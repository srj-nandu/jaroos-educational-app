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18872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050">
                <a:solidFill>
                  <a:srgbClr val="4F46E5"/>
                </a:solidFill>
              </a:defRPr>
            </a:pPr>
            <a:r>
              <a:t>DATASET SPECIFICATION &amp; CORPUS ARCHITECTURE</a:t>
            </a:r>
          </a:p>
          <a:p>
            <a:pPr>
              <a:spcAft>
                <a:spcPts val="400"/>
              </a:spcAft>
              <a:defRPr b="1" sz="4000">
                <a:solidFill>
                  <a:srgbClr val="0F172A"/>
                </a:solidFill>
              </a:defRPr>
            </a:pPr>
            <a:r>
              <a:t>JAROOS DATASETS</a:t>
            </a:r>
          </a:p>
          <a:p>
            <a:pPr>
              <a:spcAft>
                <a:spcPts val="1800"/>
              </a:spcAft>
              <a:defRPr b="1" sz="1600">
                <a:solidFill>
                  <a:srgbClr val="4F46E5"/>
                </a:solidFill>
              </a:defRPr>
            </a:pPr>
            <a:r>
              <a:t>Category 1: Speech &amp; Neural AI Corpora  |  Category 2: Early Learning Curricula</a:t>
            </a:r>
          </a:p>
          <a:p>
            <a:pPr>
              <a:spcAft>
                <a:spcPts val="2600"/>
              </a:spcAft>
              <a:defRPr sz="1150">
                <a:solidFill>
                  <a:srgbClr val="475569"/>
                </a:solidFill>
              </a:defRPr>
            </a:pPr>
            <a:r>
              <a:t>A detailed breakdown of the linguistic speech training datasets, phonetic lexicons, and pedagogical early childhood learning datasets integrated into the JAROOS offline mobile ecosystem.</a:t>
            </a:r>
          </a:p>
          <a:p>
            <a:pPr>
              <a:defRPr b="1" sz="1050">
                <a:solidFill>
                  <a:srgbClr val="0D9488"/>
                </a:solidFill>
              </a:defRPr>
            </a:pPr>
            <a:r>
              <a:t>Speech Corpora  •  VITS Models  •  eSpeak-NG IPA  •  Phonics &amp; Numeracy  •  Bilingual Folklore  •  100% Offline</a:t>
            </a:r>
          </a:p>
        </p:txBody>
      </p:sp>
      <p:pic>
        <p:nvPicPr>
          <p:cNvPr id="5" name="Picture 4" descr="app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137160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37744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b="1" sz="950">
                <a:solidFill>
                  <a:srgbClr val="4F46E5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100">
                <a:solidFill>
                  <a:srgbClr val="0F172A"/>
                </a:solidFill>
              </a:defRPr>
            </a:pPr>
            <a:r>
              <a:t>Two-Tier Dataset Architecture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Strategic Separation of Speech AI Acoustic Corpora and Pedagogical Content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64792"/>
            <a:ext cx="47091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250">
                <a:solidFill>
                  <a:srgbClr val="4F46E5"/>
                </a:solidFill>
              </a:defRPr>
            </a:pPr>
            <a:r>
              <a:t>Category 1: Speech &amp; Neural AI Corpora</a:t>
            </a:r>
            <a:r>
              <a:rPr b="1" sz="950">
                <a:solidFill>
                  <a:srgbClr val="475569"/>
                </a:solidFill>
              </a:rPr>
              <a:t>  [System Core]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21992"/>
            <a:ext cx="4709160" cy="3977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Domain &amp; Purpose: </a:t>
            </a:r>
            <a:r>
              <a:rPr sz="950">
                <a:solidFill>
                  <a:srgbClr val="475569"/>
                </a:solidFill>
              </a:rPr>
              <a:t>Acoustic speech corpora, phoneme mappings, and pre-trained VITS neural model weights.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Primary Function: </a:t>
            </a:r>
            <a:r>
              <a:rPr sz="950">
                <a:solidFill>
                  <a:srgbClr val="475569"/>
                </a:solidFill>
              </a:rPr>
              <a:t>Powers real-time, on-device neural Text-to-Speech (TTS) synthesis without cloud reliance.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Key Corpora Used: </a:t>
            </a:r>
            <a:r>
              <a:rPr sz="950">
                <a:solidFill>
                  <a:srgbClr val="475569"/>
                </a:solidFill>
              </a:rPr>
              <a:t>Paula Lessac Speech Corpus, SpringLab Amy Corpus, Indic TTS Malayalam Corpus, eSpeak-NG IPA Lexicon.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Technical Scale: </a:t>
            </a:r>
            <a:r>
              <a:rPr sz="950">
                <a:solidFill>
                  <a:srgbClr val="475569"/>
                </a:solidFill>
              </a:rPr>
              <a:t>Tens of thousands of studio-recorded phonetically balanced audio utterances (22.05 kHz).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Storage &amp; Runtime: </a:t>
            </a:r>
            <a:r>
              <a:rPr sz="950">
                <a:solidFill>
                  <a:srgbClr val="475569"/>
                </a:solidFill>
              </a:rPr>
              <a:t>Compressed via Post-Training INT8 Quantization (~18 MB/model) running via C++ ONNX Runtime.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Privacy &amp; Security: </a:t>
            </a:r>
            <a:r>
              <a:rPr sz="950">
                <a:solidFill>
                  <a:srgbClr val="475569"/>
                </a:solidFill>
              </a:rPr>
              <a:t>100% on-device neural inference; zero child voice data or prompts leave the mobile device.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516636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64792"/>
            <a:ext cx="47091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250">
                <a:solidFill>
                  <a:srgbClr val="0D9488"/>
                </a:solidFill>
              </a:defRPr>
            </a:pPr>
            <a:r>
              <a:t>Category 2: Educational Curriculum Datasets</a:t>
            </a:r>
            <a:r>
              <a:rPr b="1" sz="950">
                <a:solidFill>
                  <a:srgbClr val="475569"/>
                </a:solidFill>
              </a:rPr>
              <a:t>  [User Experience]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21992"/>
            <a:ext cx="4709160" cy="3977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Domain &amp; Purpose: </a:t>
            </a:r>
            <a:r>
              <a:rPr sz="950">
                <a:solidFill>
                  <a:srgbClr val="475569"/>
                </a:solidFill>
              </a:rPr>
              <a:t>Structured pedagogical early childhood curriculum assets, vocatives, and folk literature.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Primary Function: </a:t>
            </a:r>
            <a:r>
              <a:rPr sz="950">
                <a:solidFill>
                  <a:srgbClr val="475569"/>
                </a:solidFill>
              </a:rPr>
              <a:t>Drives interactive pre-literacy, numeracy, wildlife biology, and bilingual moral education.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Key Datasets Used: </a:t>
            </a:r>
            <a:r>
              <a:rPr sz="950">
                <a:solidFill>
                  <a:srgbClr val="475569"/>
                </a:solidFill>
              </a:rPr>
              <a:t>26 Alphabet Phonics, 20 Numbers &amp; Visuals, 12 Fauna Sound Calls, 12 Fruits/Veggies, 12 Bedtime Stories.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Curriculum Grounding: </a:t>
            </a:r>
            <a:r>
              <a:rPr sz="950">
                <a:solidFill>
                  <a:srgbClr val="475569"/>
                </a:solidFill>
              </a:rPr>
              <a:t>Aligned with Seymour Papert's Constructionism and UNESCO Mother-Tongue early literacy recommendations.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Bilingual Integration: </a:t>
            </a:r>
            <a:r>
              <a:rPr sz="950">
                <a:solidFill>
                  <a:srgbClr val="475569"/>
                </a:solidFill>
              </a:rPr>
              <a:t>6 English adapted fables + 6 authentic Malayalam moral folk tales written in native script.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Ethical Preschool Design: </a:t>
            </a:r>
            <a:r>
              <a:rPr sz="950">
                <a:solidFill>
                  <a:srgbClr val="475569"/>
                </a:solidFill>
              </a:rPr>
              <a:t>100% ad-free, distraction-free, and accessible offline in airplane mode.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37744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b="1" sz="950">
                <a:solidFill>
                  <a:srgbClr val="4F46E5"/>
                </a:solidFill>
              </a:defRPr>
            </a:pPr>
            <a:r>
              <a:t>CATEGORY 1 | ENGLISH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100">
                <a:solidFill>
                  <a:srgbClr val="0F172A"/>
                </a:solidFill>
              </a:defRPr>
            </a:pPr>
            <a:r>
              <a:t>Speech AI Corpora: English Neural Voices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Studio-Recorded Audio Corpora for Primary Mascot and Storytelling Personas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328416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64792"/>
            <a:ext cx="2871216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250">
                <a:solidFill>
                  <a:srgbClr val="4F46E5"/>
                </a:solidFill>
              </a:defRPr>
            </a:pPr>
            <a:r>
              <a:t>1. Paula Lessac Speech Corpus</a:t>
            </a:r>
            <a:r>
              <a:rPr b="1" sz="950">
                <a:solidFill>
                  <a:srgbClr val="475569"/>
                </a:solidFill>
              </a:rPr>
              <a:t>  [Mascot &amp; Tom]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21992"/>
            <a:ext cx="2871216" cy="3977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Corpus Name: </a:t>
            </a:r>
            <a:r>
              <a:rPr sz="950">
                <a:solidFill>
                  <a:srgbClr val="475569"/>
                </a:solidFill>
              </a:rPr>
              <a:t>Paula Lessac Speech Corpus (American English).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Acoustic Profile: </a:t>
            </a:r>
            <a:r>
              <a:rPr sz="950">
                <a:solidFill>
                  <a:srgbClr val="475569"/>
                </a:solidFill>
              </a:rPr>
              <a:t>Studio-grade 22.05 kHz single-speaker read speech with clear phonetic enunciation.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Model Output: </a:t>
            </a:r>
            <a:r>
              <a:rPr sz="950">
                <a:solidFill>
                  <a:srgbClr val="475569"/>
                </a:solidFill>
              </a:rPr>
              <a:t>VITS int8-quantized model (`en_US-lessac-medium.onnx`, 18.5 MB).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JAROOS Personas: </a:t>
            </a:r>
            <a:r>
              <a:rPr sz="950">
                <a:solidFill>
                  <a:srgbClr val="475569"/>
                </a:solidFill>
              </a:rPr>
              <a:t>Primary mascot companion ('Sparky Kid') and energetic preschool guide.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Talking Tom Role: </a:t>
            </a:r>
            <a:r>
              <a:rPr sz="950">
                <a:solidFill>
                  <a:srgbClr val="475569"/>
                </a:solidFill>
              </a:rPr>
              <a:t>Raw PCM samples digitally pitch-shifted by 1.65x for caricature voice mimicry.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Pedagogical Value: </a:t>
            </a:r>
            <a:r>
              <a:rPr sz="950">
                <a:solidFill>
                  <a:srgbClr val="475569"/>
                </a:solidFill>
              </a:rPr>
              <a:t>High phonetic clarity helps toddlers discriminate subtle English vowel/consonant sounds.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00200"/>
            <a:ext cx="3328416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1764792"/>
            <a:ext cx="2871216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250">
                <a:solidFill>
                  <a:srgbClr val="0D9488"/>
                </a:solidFill>
              </a:defRPr>
            </a:pPr>
            <a:r>
              <a:t>2. SpringLab Amy Speech Corpus</a:t>
            </a:r>
            <a:r>
              <a:rPr b="1" sz="950">
                <a:solidFill>
                  <a:srgbClr val="475569"/>
                </a:solidFill>
              </a:rPr>
              <a:t>  [Teacher &amp; Bedtime]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296" y="2221992"/>
            <a:ext cx="2871216" cy="3977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Corpus Name: </a:t>
            </a:r>
            <a:r>
              <a:rPr sz="950">
                <a:solidFill>
                  <a:srgbClr val="475569"/>
                </a:solidFill>
              </a:rPr>
              <a:t>SpringLab Amy Speech Corpus (English).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Acoustic Profile: </a:t>
            </a:r>
            <a:r>
              <a:rPr sz="950">
                <a:solidFill>
                  <a:srgbClr val="475569"/>
                </a:solidFill>
              </a:rPr>
              <a:t>Warm, soothing, expressive female tone recorded under professional acoustic conditions.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Model Output: </a:t>
            </a:r>
            <a:r>
              <a:rPr sz="950">
                <a:solidFill>
                  <a:srgbClr val="475569"/>
                </a:solidFill>
              </a:rPr>
              <a:t>VITS int8-quantized model (`en_US-amy-medium.onnx`, 18.7 MB).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JAROOS Personas: </a:t>
            </a:r>
            <a:r>
              <a:rPr sz="950">
                <a:solidFill>
                  <a:srgbClr val="475569"/>
                </a:solidFill>
              </a:rPr>
              <a:t>Patient educator ('Teacher Emma') and bedtime story narrator.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Pedagogical Value: </a:t>
            </a:r>
            <a:r>
              <a:rPr sz="950">
                <a:solidFill>
                  <a:srgbClr val="475569"/>
                </a:solidFill>
              </a:rPr>
              <a:t>Softer cadence lowers anxiety during bedtime story listening and calm study sessions.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Prosody Quality: </a:t>
            </a:r>
            <a:r>
              <a:rPr sz="950">
                <a:solidFill>
                  <a:srgbClr val="475569"/>
                </a:solidFill>
              </a:rPr>
              <a:t>Natural sentence contour matching emotional narrative arcs in fables.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00200"/>
            <a:ext cx="3328416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764792"/>
            <a:ext cx="2871216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250">
                <a:solidFill>
                  <a:srgbClr val="D97706"/>
                </a:solidFill>
              </a:defRPr>
            </a:pPr>
            <a:r>
              <a:t>Acoustic Specifications &amp; VITS</a:t>
            </a:r>
            <a:r>
              <a:rPr b="1" sz="950">
                <a:solidFill>
                  <a:srgbClr val="475569"/>
                </a:solidFill>
              </a:rPr>
              <a:t>  [Technical Spec]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2221992"/>
            <a:ext cx="2871216" cy="3977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b="1" sz="1050">
                <a:solidFill>
                  <a:srgbClr val="D97706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Sampling Rate: </a:t>
            </a:r>
            <a:r>
              <a:rPr sz="950">
                <a:solidFill>
                  <a:srgbClr val="475569"/>
                </a:solidFill>
              </a:rPr>
              <a:t>22,050 Hz (industry standard for high-fidelity speech synthesis).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D97706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Bit Depth &amp; Channels: </a:t>
            </a:r>
            <a:r>
              <a:rPr sz="950">
                <a:solidFill>
                  <a:srgbClr val="475569"/>
                </a:solidFill>
              </a:rPr>
              <a:t>16-bit Linear PCM, Single-Channel Mono for optimal mobile CPU throughput.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D97706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VITS Architecture: </a:t>
            </a:r>
            <a:r>
              <a:rPr sz="950">
                <a:solidFill>
                  <a:srgbClr val="475569"/>
                </a:solidFill>
              </a:rPr>
              <a:t>Variational Autoencoder (VAE) + Normalizing Flows + HiFi-GAN Multi-Period Discriminator.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D97706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Alignment Engine: </a:t>
            </a:r>
            <a:r>
              <a:rPr sz="950">
                <a:solidFill>
                  <a:srgbClr val="475569"/>
                </a:solidFill>
              </a:rPr>
              <a:t>Monotonic Alignment Search (MAS) for unsupervised phoneme-to-frame duration mapping.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D97706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Quantization: </a:t>
            </a:r>
            <a:r>
              <a:rPr sz="950">
                <a:solidFill>
                  <a:srgbClr val="475569"/>
                </a:solidFill>
              </a:rPr>
              <a:t>Post-Training Quantization (PTQ) to INT8 weights with zero perceptual quality loss.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D97706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Inference Latency: </a:t>
            </a:r>
            <a:r>
              <a:rPr sz="950">
                <a:solidFill>
                  <a:srgbClr val="475569"/>
                </a:solidFill>
              </a:rPr>
              <a:t>&lt; 250 milliseconds on standard mobile ARM processors.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37744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b="1" sz="950">
                <a:solidFill>
                  <a:srgbClr val="4F46E5"/>
                </a:solidFill>
              </a:defRPr>
            </a:pPr>
            <a:r>
              <a:t>CATEGORY 1 | INDIC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100">
                <a:solidFill>
                  <a:srgbClr val="0F172A"/>
                </a:solidFill>
              </a:defRPr>
            </a:pPr>
            <a:r>
              <a:t>Speech AI Corpora: Malayalam &amp; IPA Phonetics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Preserving Regional Heritage via Indic Speech Corpora and Universal G2P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328416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64792"/>
            <a:ext cx="2871216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250">
                <a:solidFill>
                  <a:srgbClr val="4F46E5"/>
                </a:solidFill>
              </a:defRPr>
            </a:pPr>
            <a:r>
              <a:t>3. Indic TTS Malayalam Corpus (Arjun)</a:t>
            </a:r>
            <a:r>
              <a:rPr b="1" sz="950">
                <a:solidFill>
                  <a:srgbClr val="475569"/>
                </a:solidFill>
              </a:rPr>
              <a:t>  [Male Voice]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21992"/>
            <a:ext cx="2871216" cy="3977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Corpus Name: </a:t>
            </a:r>
            <a:r>
              <a:rPr sz="950">
                <a:solidFill>
                  <a:srgbClr val="475569"/>
                </a:solidFill>
              </a:rPr>
              <a:t>Indic TTS Malayalam Speech Corpus (OpenSLR SLR63).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Initiative &amp; Origin: </a:t>
            </a:r>
            <a:r>
              <a:rPr sz="950">
                <a:solidFill>
                  <a:srgbClr val="475569"/>
                </a:solidFill>
              </a:rPr>
              <a:t>Developed under the IIT Madras IndicTTS initiative and open Malayalam speech research.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Acoustic Profile: </a:t>
            </a:r>
            <a:r>
              <a:rPr sz="950">
                <a:solidFill>
                  <a:srgbClr val="475569"/>
                </a:solidFill>
              </a:rPr>
              <a:t>Native Malayalam male speaker ('Arjun') with authentic Kerala dialect inflection.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Model Output: </a:t>
            </a:r>
            <a:r>
              <a:rPr sz="950">
                <a:solidFill>
                  <a:srgbClr val="475569"/>
                </a:solidFill>
              </a:rPr>
              <a:t>VITS int8 model (`ml_IN-arjun-medium.onnx`, 18.3 MB).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JAROOS Personas: </a:t>
            </a:r>
            <a:r>
              <a:rPr sz="950">
                <a:solidFill>
                  <a:srgbClr val="475569"/>
                </a:solidFill>
              </a:rPr>
              <a:t>Playful child buddy ('Unni') and adventurous explorer ('Appu').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Significance: </a:t>
            </a:r>
            <a:r>
              <a:rPr sz="950">
                <a:solidFill>
                  <a:srgbClr val="475569"/>
                </a:solidFill>
              </a:rPr>
              <a:t>First-class Malayalam speech support running 100% offline on mobile hardware.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00200"/>
            <a:ext cx="3328416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1764792"/>
            <a:ext cx="2871216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250">
                <a:solidFill>
                  <a:srgbClr val="0D9488"/>
                </a:solidFill>
              </a:defRPr>
            </a:pPr>
            <a:r>
              <a:t>4. Indic Speech Malayalam Corpus (Meera)</a:t>
            </a:r>
            <a:r>
              <a:rPr b="1" sz="950">
                <a:solidFill>
                  <a:srgbClr val="475569"/>
                </a:solidFill>
              </a:rPr>
              <a:t>  [Female Voice]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296" y="2221992"/>
            <a:ext cx="2871216" cy="3977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Corpus Name: </a:t>
            </a:r>
            <a:r>
              <a:rPr sz="950">
                <a:solidFill>
                  <a:srgbClr val="475569"/>
                </a:solidFill>
              </a:rPr>
              <a:t>Indic Speech Malayalam Read Corpus (Meera).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Origin &amp; Voice: </a:t>
            </a:r>
            <a:r>
              <a:rPr sz="950">
                <a:solidFill>
                  <a:srgbClr val="475569"/>
                </a:solidFill>
              </a:rPr>
              <a:t>Studio read speech from native Malayalam female speaker ('Meera').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Acoustic Profile: </a:t>
            </a:r>
            <a:r>
              <a:rPr sz="950">
                <a:solidFill>
                  <a:srgbClr val="475569"/>
                </a:solidFill>
              </a:rPr>
              <a:t>Gentle, expressive cadence specifically suited for maternal and storytelling roles.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Model Output: </a:t>
            </a:r>
            <a:r>
              <a:rPr sz="950">
                <a:solidFill>
                  <a:srgbClr val="475569"/>
                </a:solidFill>
              </a:rPr>
              <a:t>VITS int8 model (`ml_IN-meera-medium.onnx`, 18.3 MB).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JAROOS Personas: </a:t>
            </a:r>
            <a:r>
              <a:rPr sz="950">
                <a:solidFill>
                  <a:srgbClr val="475569"/>
                </a:solidFill>
              </a:rPr>
              <a:t>Gentle regional storyteller ('Meenu') for traditional folklore stories.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Cultural Bridge: </a:t>
            </a:r>
            <a:r>
              <a:rPr sz="950">
                <a:solidFill>
                  <a:srgbClr val="475569"/>
                </a:solidFill>
              </a:rPr>
              <a:t>Connects urban and NRI children back to their native linguistic roots through authentic tales.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00200"/>
            <a:ext cx="3328416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764792"/>
            <a:ext cx="2871216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250">
                <a:solidFill>
                  <a:srgbClr val="D97706"/>
                </a:solidFill>
              </a:defRPr>
            </a:pPr>
            <a:r>
              <a:t>5. eSpeak-NG Phonetic Lexicon</a:t>
            </a:r>
            <a:r>
              <a:rPr b="1" sz="950">
                <a:solidFill>
                  <a:srgbClr val="475569"/>
                </a:solidFill>
              </a:rPr>
              <a:t>  [G2P Engine]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2221992"/>
            <a:ext cx="2871216" cy="3977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b="1" sz="1050">
                <a:solidFill>
                  <a:srgbClr val="D97706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Dataset Name: </a:t>
            </a:r>
            <a:r>
              <a:rPr sz="950">
                <a:solidFill>
                  <a:srgbClr val="475569"/>
                </a:solidFill>
              </a:rPr>
              <a:t>eSpeak-NG International Phonetic Alphabet (IPA) Lexicon.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D97706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Package Scale: </a:t>
            </a:r>
            <a:r>
              <a:rPr sz="950">
                <a:solidFill>
                  <a:srgbClr val="475569"/>
                </a:solidFill>
              </a:rPr>
              <a:t>Shared compressed package (`espeak-ng-data.zip`, 8.7 MB).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D97706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G2P Pipeline: </a:t>
            </a:r>
            <a:r>
              <a:rPr sz="950">
                <a:solidFill>
                  <a:srgbClr val="475569"/>
                </a:solidFill>
              </a:rPr>
              <a:t>Converts written orthography (text) to phonetic IPA tokens (Grapheme-to-Phoneme).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D97706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Malayalam Support: </a:t>
            </a:r>
            <a:r>
              <a:rPr sz="950">
                <a:solidFill>
                  <a:srgbClr val="475569"/>
                </a:solidFill>
              </a:rPr>
              <a:t>Maps Malayalam Unicode range `[ഀ-ൿ]` including conjuncts (കൂട്ടക്ഷരങ്ങൾ) and vowel signs (സ്വരചിഹ്നങ്ങൾ).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D97706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Zero Redundancy: </a:t>
            </a:r>
            <a:r>
              <a:rPr sz="950">
                <a:solidFill>
                  <a:srgbClr val="475569"/>
                </a:solidFill>
              </a:rPr>
              <a:t>Single shared dictionary serves all English and Indic neural voice models simultaneously.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D97706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Extraction: </a:t>
            </a:r>
            <a:r>
              <a:rPr sz="950">
                <a:solidFill>
                  <a:srgbClr val="475569"/>
                </a:solidFill>
              </a:rPr>
              <a:t>Auto-extracted to local storage (`getApplicationSupportDirectory()`) on first launch.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37744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b="1" sz="950">
                <a:solidFill>
                  <a:srgbClr val="4F46E5"/>
                </a:solidFill>
              </a:defRPr>
            </a:pPr>
            <a:r>
              <a:t>CATEGORY 2 | EARLY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100">
                <a:solidFill>
                  <a:srgbClr val="0F172A"/>
                </a:solidFill>
              </a:defRPr>
            </a:pPr>
            <a:r>
              <a:t>Curriculum Datasets: Early Literacy &amp; STEM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Structured Pedagogical Datasets Designed for Tactile Pre-Literacy and Numeracy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2450592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64792"/>
            <a:ext cx="1993392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250">
                <a:solidFill>
                  <a:srgbClr val="4F46E5"/>
                </a:solidFill>
              </a:defRPr>
            </a:pPr>
            <a:r>
              <a:t>1. Alphabet Phonics Dataset</a:t>
            </a:r>
            <a:r>
              <a:rPr b="1" sz="950">
                <a:solidFill>
                  <a:srgbClr val="475569"/>
                </a:solidFill>
              </a:rPr>
              <a:t>  [26 Units]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21992"/>
            <a:ext cx="1993392" cy="3977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Dataset Scale: </a:t>
            </a:r>
            <a:r>
              <a:rPr sz="950">
                <a:solidFill>
                  <a:srgbClr val="475569"/>
                </a:solidFill>
              </a:rPr>
              <a:t>26 core alphabet modules (`A` through `Z`).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Grapheme &amp; Word: </a:t>
            </a:r>
            <a:r>
              <a:rPr sz="950">
                <a:solidFill>
                  <a:srgbClr val="475569"/>
                </a:solidFill>
              </a:rPr>
              <a:t>Letter symbol, uppercase/lowercase, and familiar concrete nouns (A for Apple).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Multi-Sensory Hook: </a:t>
            </a:r>
            <a:r>
              <a:rPr sz="950">
                <a:solidFill>
                  <a:srgbClr val="475569"/>
                </a:solidFill>
              </a:rPr>
              <a:t>Visual card + tactile tap chime + Piper neural audio pronunciation.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Pedagogical Goal: </a:t>
            </a:r>
            <a:r>
              <a:rPr sz="950">
                <a:solidFill>
                  <a:srgbClr val="475569"/>
                </a:solidFill>
              </a:rPr>
              <a:t>Establishes pre-reading phonemic awareness and visual letter discrimination.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3864" y="1600200"/>
            <a:ext cx="2450592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12464" y="1764792"/>
            <a:ext cx="1993392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250">
                <a:solidFill>
                  <a:srgbClr val="0D9488"/>
                </a:solidFill>
              </a:defRPr>
            </a:pPr>
            <a:r>
              <a:t>2. Numeracy &amp; Counting Dataset</a:t>
            </a:r>
            <a:r>
              <a:rPr b="1" sz="950">
                <a:solidFill>
                  <a:srgbClr val="475569"/>
                </a:solidFill>
              </a:rPr>
              <a:t>  [20 Units]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2464" y="2221992"/>
            <a:ext cx="1993392" cy="3977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Dataset Scale: </a:t>
            </a:r>
            <a:r>
              <a:rPr sz="950">
                <a:solidFill>
                  <a:srgbClr val="475569"/>
                </a:solidFill>
              </a:rPr>
              <a:t>Numbers `1` to `20` with countable visual sets.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Concrete Quantities: </a:t>
            </a:r>
            <a:r>
              <a:rPr sz="950">
                <a:solidFill>
                  <a:srgbClr val="475569"/>
                </a:solidFill>
              </a:rPr>
              <a:t>Pairing digit symbols with countable items (e.g. 5 stars, 10 apples).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Gamified Audio: </a:t>
            </a:r>
            <a:r>
              <a:rPr sz="950">
                <a:solidFill>
                  <a:srgbClr val="475569"/>
                </a:solidFill>
              </a:rPr>
              <a:t>Consecutive numeric counting with voice reinforcement and celebration fanfares.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Pedagogical Goal: </a:t>
            </a:r>
            <a:r>
              <a:rPr sz="950">
                <a:solidFill>
                  <a:srgbClr val="475569"/>
                </a:solidFill>
              </a:rPr>
              <a:t>Develops number sense, one-to-one correspondence, and sequential order.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600200"/>
            <a:ext cx="2450592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764792"/>
            <a:ext cx="1993392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250">
                <a:solidFill>
                  <a:srgbClr val="D97706"/>
                </a:solidFill>
              </a:defRPr>
            </a:pPr>
            <a:r>
              <a:t>3. Wildlife Safari Dataset</a:t>
            </a:r>
            <a:r>
              <a:rPr b="1" sz="950">
                <a:solidFill>
                  <a:srgbClr val="475569"/>
                </a:solidFill>
              </a:rPr>
              <a:t>  [12 Species]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2221992"/>
            <a:ext cx="1993392" cy="3977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b="1" sz="1050">
                <a:solidFill>
                  <a:srgbClr val="D97706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Dataset Scale: </a:t>
            </a:r>
            <a:r>
              <a:rPr sz="950">
                <a:solidFill>
                  <a:srgbClr val="475569"/>
                </a:solidFill>
              </a:rPr>
              <a:t>12 curated wildlife and domestic fauna entries.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D97706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Multimodal Data: </a:t>
            </a:r>
            <a:r>
              <a:rPr sz="950">
                <a:solidFill>
                  <a:srgbClr val="475569"/>
                </a:solidFill>
              </a:rPr>
              <a:t>Animal name, habitat classification, dietary traits, and fun trivia.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D97706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Bio-Acoustic Audio: </a:t>
            </a:r>
            <a:r>
              <a:rPr sz="950">
                <a:solidFill>
                  <a:srgbClr val="475569"/>
                </a:solidFill>
              </a:rPr>
              <a:t>Authentic animal sound calls (Lion roar, Elephant trumpet, Cat meow).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D97706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Pedagogical Goal: </a:t>
            </a:r>
            <a:r>
              <a:rPr sz="950">
                <a:solidFill>
                  <a:srgbClr val="475569"/>
                </a:solidFill>
              </a:rPr>
              <a:t>Fosters early biodiversity appreciation and auditory identification.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88552" y="1600200"/>
            <a:ext cx="2450592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17152" y="1764792"/>
            <a:ext cx="1993392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250">
                <a:solidFill>
                  <a:srgbClr val="E11D48"/>
                </a:solidFill>
              </a:defRPr>
            </a:pPr>
            <a:r>
              <a:t>4. Nutritional &amp; Botanical Dataset</a:t>
            </a:r>
            <a:r>
              <a:rPr b="1" sz="950">
                <a:solidFill>
                  <a:srgbClr val="475569"/>
                </a:solidFill>
              </a:rPr>
              <a:t>  [12 Items]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17152" y="2221992"/>
            <a:ext cx="1993392" cy="3977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b="1" sz="1050">
                <a:solidFill>
                  <a:srgbClr val="E11D4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Dataset Scale: </a:t>
            </a:r>
            <a:r>
              <a:rPr sz="950">
                <a:solidFill>
                  <a:srgbClr val="475569"/>
                </a:solidFill>
              </a:rPr>
              <a:t>12 nutritional fruits and garden vegetables.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E11D4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Attribute Mapping: </a:t>
            </a:r>
            <a:r>
              <a:rPr sz="950">
                <a:solidFill>
                  <a:srgbClr val="475569"/>
                </a:solidFill>
              </a:rPr>
              <a:t>Color categorization, taste descriptions, and health benefits.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E11D4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Interactive Touch: </a:t>
            </a:r>
            <a:r>
              <a:rPr sz="950">
                <a:solidFill>
                  <a:srgbClr val="475569"/>
                </a:solidFill>
              </a:rPr>
              <a:t>Tapping items reveals internal colors, nutritional facts, and voice praise.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E11D4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Pedagogical Goal: </a:t>
            </a:r>
            <a:r>
              <a:rPr sz="950">
                <a:solidFill>
                  <a:srgbClr val="475569"/>
                </a:solidFill>
              </a:rPr>
              <a:t>Encourages healthy eating habits and color/shape vocabulary.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37744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b="1" sz="950">
                <a:solidFill>
                  <a:srgbClr val="4F46E5"/>
                </a:solidFill>
              </a:defRPr>
            </a:pPr>
            <a:r>
              <a:t>CATEGORY 2 | CULTURE &amp; MUSIC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100">
                <a:solidFill>
                  <a:srgbClr val="0F172A"/>
                </a:solidFill>
              </a:defRPr>
            </a:pPr>
            <a:r>
              <a:t>Curriculum Datasets: Regional Folklore &amp; Music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Bilingual Literature and Melodic Datasets for Emotional Growth and Cognitive Retention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64792"/>
            <a:ext cx="47091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250">
                <a:solidFill>
                  <a:srgbClr val="4F46E5"/>
                </a:solidFill>
              </a:defRPr>
            </a:pPr>
            <a:r>
              <a:t>5. Bilingual Moral Stories Dataset</a:t>
            </a:r>
            <a:r>
              <a:rPr b="1" sz="950">
                <a:solidFill>
                  <a:srgbClr val="475569"/>
                </a:solidFill>
              </a:rPr>
              <a:t>  [12 Literature Units]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21992"/>
            <a:ext cx="4709160" cy="3977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Dataset Scope: </a:t>
            </a:r>
            <a:r>
              <a:rPr sz="950">
                <a:solidFill>
                  <a:srgbClr val="475569"/>
                </a:solidFill>
              </a:rPr>
              <a:t>12 curated moral bedtime stories partitioned into two distinct cultural streams.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6 English Classic Fables: </a:t>
            </a:r>
            <a:r>
              <a:rPr sz="950">
                <a:solidFill>
                  <a:srgbClr val="475569"/>
                </a:solidFill>
              </a:rPr>
              <a:t>Adapted from Aesop and Grimm (The Boy Who Cried Wolf, Hare &amp; Tortoise, Honest Woodcutter) emphasizing honesty, patience, and diligence.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6 Authentic Malayalam Folk Tales: </a:t>
            </a:r>
            <a:r>
              <a:rPr sz="950">
                <a:solidFill>
                  <a:srgbClr val="475569"/>
                </a:solidFill>
              </a:rPr>
              <a:t>Native Panchatantra and regional folklore written directly in authentic Malayalam Unicode script (`ആമയും മുയലും`, `ബുദ്ധിമാനായ കാക്ക`, `സിംഹവും എലിയും`).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Script-Aware Neural Narration: </a:t>
            </a:r>
            <a:r>
              <a:rPr sz="950">
                <a:solidFill>
                  <a:srgbClr val="475569"/>
                </a:solidFill>
              </a:rPr>
              <a:t>Real-time 'Read to Me 🔊' switch dynamically routes Malayalam text to `ml_IN-arjun` or `meera` voice models.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Educational Morals: </a:t>
            </a:r>
            <a:r>
              <a:rPr sz="950">
                <a:solidFill>
                  <a:srgbClr val="475569"/>
                </a:solidFill>
              </a:rPr>
              <a:t>Each story concludes with an explicit moral takeaway to foster social-emotional learning (SEL).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Dual-Mode Reading: </a:t>
            </a:r>
            <a:r>
              <a:rPr sz="950">
                <a:solidFill>
                  <a:srgbClr val="475569"/>
                </a:solidFill>
              </a:rPr>
              <a:t>Children can read independently or listen to continuous expressive neural voice storytelling.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516636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64792"/>
            <a:ext cx="47091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250">
                <a:solidFill>
                  <a:srgbClr val="0D9488"/>
                </a:solidFill>
              </a:defRPr>
            </a:pPr>
            <a:r>
              <a:t>6. Nursery Rhymes &amp; Melody Dataset</a:t>
            </a:r>
            <a:r>
              <a:rPr b="1" sz="950">
                <a:solidFill>
                  <a:srgbClr val="475569"/>
                </a:solidFill>
              </a:rPr>
              <a:t>  [6 Music Units]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21992"/>
            <a:ext cx="4709160" cy="3977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Dataset Scope: </a:t>
            </a:r>
            <a:r>
              <a:rPr sz="950">
                <a:solidFill>
                  <a:srgbClr val="475569"/>
                </a:solidFill>
              </a:rPr>
              <a:t>6 timeless preschool nursery rhymes with synchronized audio melodies.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Included Classics: </a:t>
            </a:r>
            <a:r>
              <a:rPr sz="950">
                <a:solidFill>
                  <a:srgbClr val="475569"/>
                </a:solidFill>
              </a:rPr>
              <a:t>'Twinkle Twinkle Little Star', 'Old MacDonald', 'Wheels on the Bus', 'Baa Baa Black Sheep', 'Humpty Dumpty', 'Row Your Boat'.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Rhythmic Audio Playback: </a:t>
            </a:r>
            <a:r>
              <a:rPr sz="950">
                <a:solidFill>
                  <a:srgbClr val="475569"/>
                </a:solidFill>
              </a:rPr>
              <a:t>Integrated via `audioplayers` with synchronized on-screen lyric tracking.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Sensory Integration: </a:t>
            </a:r>
            <a:r>
              <a:rPr sz="950">
                <a:solidFill>
                  <a:srgbClr val="475569"/>
                </a:solidFill>
              </a:rPr>
              <a:t>Children sing along while visually tracking highlighted words and playful illustrations.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Auditory Memory Stimulation: </a:t>
            </a:r>
            <a:r>
              <a:rPr sz="950">
                <a:solidFill>
                  <a:srgbClr val="475569"/>
                </a:solidFill>
              </a:rPr>
              <a:t>Rhythm and rhyme patterns accelerate phonetic retention and linguistic cadences in early learners.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Zero Interruption: </a:t>
            </a:r>
            <a:r>
              <a:rPr sz="950">
                <a:solidFill>
                  <a:srgbClr val="475569"/>
                </a:solidFill>
              </a:rPr>
              <a:t>Plays seamlessly in offline mode without buffering, advertisements, or cloud dependencies.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37744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b="1" sz="950">
                <a:solidFill>
                  <a:srgbClr val="4F46E5"/>
                </a:solidFill>
              </a:defRPr>
            </a:pPr>
            <a: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100">
                <a:solidFill>
                  <a:srgbClr val="0F172A"/>
                </a:solidFill>
              </a:defRPr>
            </a:pPr>
            <a:r>
              <a:t>Dataset Ingestion &amp; Edge Deployment Pipeline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How Raw Audio Corpora and Pedagogical Content are Processed for Mobile Devices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328416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64792"/>
            <a:ext cx="2871216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250">
                <a:solidFill>
                  <a:srgbClr val="4F46E5"/>
                </a:solidFill>
              </a:defRPr>
            </a:pPr>
            <a:r>
              <a:t>Stage 1: Server Training (PyTorch)</a:t>
            </a:r>
            <a:r>
              <a:rPr b="1" sz="950">
                <a:solidFill>
                  <a:srgbClr val="475569"/>
                </a:solidFill>
              </a:rPr>
              <a:t>  [Cloud/GPU]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21992"/>
            <a:ext cx="2871216" cy="3977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Server Training: </a:t>
            </a:r>
            <a:r>
              <a:rPr sz="950">
                <a:solidFill>
                  <a:srgbClr val="475569"/>
                </a:solidFill>
              </a:rPr>
              <a:t>Models trained in PyTorch using multi-speaker VITS architecture on NVIDIA A100 GPU clusters.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Acoustic Alignment: </a:t>
            </a:r>
            <a:r>
              <a:rPr sz="950">
                <a:solidFill>
                  <a:srgbClr val="475569"/>
                </a:solidFill>
              </a:rPr>
              <a:t>Monotonic Alignment Search maps audio spectrogram frames to phoneme tokens without human aligners.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HiFi-GAN Discriminators: </a:t>
            </a:r>
            <a:r>
              <a:rPr sz="950">
                <a:solidFill>
                  <a:srgbClr val="475569"/>
                </a:solidFill>
              </a:rPr>
              <a:t>Adversarial training enforces natural human vocal timbre, eliminating robotic buzzing.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00200"/>
            <a:ext cx="3328416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1764792"/>
            <a:ext cx="2871216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250">
                <a:solidFill>
                  <a:srgbClr val="0D9488"/>
                </a:solidFill>
              </a:defRPr>
            </a:pPr>
            <a:r>
              <a:t>Stage 2: INT8 Quantization (PTQ)</a:t>
            </a:r>
            <a:r>
              <a:rPr b="1" sz="950">
                <a:solidFill>
                  <a:srgbClr val="475569"/>
                </a:solidFill>
              </a:rPr>
              <a:t>  [Optimization]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296" y="2221992"/>
            <a:ext cx="2871216" cy="3977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ONNX Graph Export: </a:t>
            </a:r>
            <a:r>
              <a:rPr sz="950">
                <a:solidFill>
                  <a:srgbClr val="475569"/>
                </a:solidFill>
              </a:rPr>
              <a:t>PyTorch computation graph exported to Open Neural Network Exchange (ONNX) format.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Post-Training Quantization: </a:t>
            </a:r>
            <a:r>
              <a:rPr sz="950">
                <a:solidFill>
                  <a:srgbClr val="475569"/>
                </a:solidFill>
              </a:rPr>
              <a:t>Quantized weights from 32-bit float (FP32) to 8-bit integer (INT8).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Footprint Reduction: </a:t>
            </a:r>
            <a:r>
              <a:rPr sz="950">
                <a:solidFill>
                  <a:srgbClr val="475569"/>
                </a:solidFill>
              </a:rPr>
              <a:t>Model size dropped from ~63 MB down to ~18 MB (a 71% reduction per voice model).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Inference Speedup: </a:t>
            </a:r>
            <a:r>
              <a:rPr sz="950">
                <a:solidFill>
                  <a:srgbClr val="475569"/>
                </a:solidFill>
              </a:rPr>
              <a:t>3.5x faster integer matrix multiplication on standard mobile ARM CPUs.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00200"/>
            <a:ext cx="3328416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764792"/>
            <a:ext cx="2871216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250">
                <a:solidFill>
                  <a:srgbClr val="D97706"/>
                </a:solidFill>
              </a:defRPr>
            </a:pPr>
            <a:r>
              <a:t>Stage 3: On-Device Mobile Runtime</a:t>
            </a:r>
            <a:r>
              <a:rPr b="1" sz="950">
                <a:solidFill>
                  <a:srgbClr val="475569"/>
                </a:solidFill>
              </a:rPr>
              <a:t>  [Android Edge]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2221992"/>
            <a:ext cx="2871216" cy="3977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b="1" sz="1050">
                <a:solidFill>
                  <a:srgbClr val="D97706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Bundling in Assets: </a:t>
            </a:r>
            <a:r>
              <a:rPr sz="950">
                <a:solidFill>
                  <a:srgbClr val="475569"/>
                </a:solidFill>
              </a:rPr>
              <a:t>Bundled into `assets/models/piper/` with shared `espeak-ng-data.zip` (8.7 MB).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D97706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First-Run Unpacking: </a:t>
            </a:r>
            <a:r>
              <a:rPr sz="950">
                <a:solidFill>
                  <a:srgbClr val="475569"/>
                </a:solidFill>
              </a:rPr>
              <a:t>Automatically extracts models to `getApplicationSupportDirectory()/piper_models/` in &lt; 1 second.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D97706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Native C++ Execution: </a:t>
            </a:r>
            <a:r>
              <a:rPr sz="950">
                <a:solidFill>
                  <a:srgbClr val="475569"/>
                </a:solidFill>
              </a:rPr>
              <a:t>`sherpa_onnx` loads precompiled `.so` binaries for `arm64-v8a`, `armeabi-v7a`, `x86_64`.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D97706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100% Offline Autonomy: </a:t>
            </a:r>
            <a:r>
              <a:rPr sz="950">
                <a:solidFill>
                  <a:srgbClr val="475569"/>
                </a:solidFill>
              </a:rPr>
              <a:t>Zero server URLs, zero cloud API bills, and 100% stable in Airplane mode.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37744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b="1" sz="950">
                <a:solidFill>
                  <a:srgbClr val="4F46E5"/>
                </a:solidFill>
              </a:defRPr>
            </a:pPr>
            <a:r>
              <a:t>SUMMARY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100">
                <a:solidFill>
                  <a:srgbClr val="0F172A"/>
                </a:solidFill>
              </a:defRPr>
            </a:pPr>
            <a:r>
              <a:t>Comprehensive Dataset Master Table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Quick Reference Matrix for Technical Examiners and Evaluators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64792"/>
            <a:ext cx="47091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250">
                <a:solidFill>
                  <a:srgbClr val="4F46E5"/>
                </a:solidFill>
              </a:defRPr>
            </a:pPr>
            <a:r>
              <a:t>Key Dataset Takeaways</a:t>
            </a:r>
            <a:r>
              <a:rPr b="1" sz="950">
                <a:solidFill>
                  <a:srgbClr val="475569"/>
                </a:solidFill>
              </a:rPr>
              <a:t>  [Exam Defense]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21992"/>
            <a:ext cx="4709160" cy="3977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Category 1 Corpora: </a:t>
            </a:r>
            <a:r>
              <a:rPr sz="950">
                <a:solidFill>
                  <a:srgbClr val="475569"/>
                </a:solidFill>
              </a:rPr>
              <a:t>Paula Lessac (US English), SpringLab Amy (UK/US English), Indic TTS Malayalam (Arjun), Indic Speech (Meera), eSpeak-NG IPA Lexicon.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Category 2 Curricula: </a:t>
            </a:r>
            <a:r>
              <a:rPr sz="950">
                <a:solidFill>
                  <a:srgbClr val="475569"/>
                </a:solidFill>
              </a:rPr>
              <a:t>26 Alphabet Phonics, 20 Numbers &amp; Visuals, 12 Fauna Sound Calls, 12 Fruits &amp; Veggies, 12 Bilingual Stories, 6 Nursery Rhymes.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Data Protection: </a:t>
            </a:r>
            <a:r>
              <a:rPr sz="950">
                <a:solidFill>
                  <a:srgbClr val="475569"/>
                </a:solidFill>
              </a:rPr>
              <a:t>100% Local NoSQL storage (`SharedPreferences`). Zero child data leaves the handset (COPPA-compliant).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Edge AI Independence: </a:t>
            </a:r>
            <a:r>
              <a:rPr sz="950">
                <a:solidFill>
                  <a:srgbClr val="475569"/>
                </a:solidFill>
              </a:rPr>
              <a:t>No external Python server, no cloud API tokens, zero monthly costs, and zero network latency.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516636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64792"/>
            <a:ext cx="47091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250">
                <a:solidFill>
                  <a:srgbClr val="0D9488"/>
                </a:solidFill>
              </a:defRPr>
            </a:pPr>
            <a:r>
              <a:t>Evaluator Q&amp;A Cheat Sheet</a:t>
            </a:r>
            <a:r>
              <a:rPr b="1" sz="950">
                <a:solidFill>
                  <a:srgbClr val="475569"/>
                </a:solidFill>
              </a:rPr>
              <a:t>  [Instant Answers]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21992"/>
            <a:ext cx="4709160" cy="3977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Q: Did you train the models on the phone? </a:t>
            </a:r>
            <a:r>
              <a:rPr sz="950">
                <a:solidFill>
                  <a:srgbClr val="475569"/>
                </a:solidFill>
              </a:rPr>
              <a:t>A: No. Training deep VITS neural networks requires hundreds of GPU hours. We performed Post-Training INT8 Quantization (PTQ) to convert FP32 models into 18 MB edge models that execute in real time on mobile CPUs via C++ ONNX Runtime.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Q: Why both English and Malayalam corpora? </a:t>
            </a:r>
            <a:r>
              <a:rPr sz="950">
                <a:solidFill>
                  <a:srgbClr val="475569"/>
                </a:solidFill>
              </a:rPr>
              <a:t>A: To foster early childhood bilingualism and preserve regional Indian cultural heritage (Malayalam moral fables) alongside global English literacy.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•  </a:t>
            </a:r>
            <a:r>
              <a:rPr b="1" sz="1000">
                <a:solidFill>
                  <a:srgbClr val="0F172A"/>
                </a:solidFill>
              </a:rPr>
              <a:t>Q: What is the role of eSpeak-NG? </a:t>
            </a:r>
            <a:r>
              <a:rPr sz="950">
                <a:solidFill>
                  <a:srgbClr val="475569"/>
                </a:solidFill>
              </a:rPr>
              <a:t>A: It acts as the Grapheme-to-Phoneme (G2P) engine, converting written English text and Malayalam Unicode glyphs [\u0D00-\u0D7F] into standardized IPA phonetic tokens for neural acoustic synthesis.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