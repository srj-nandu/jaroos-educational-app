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731520"/>
            <a:ext cx="10728655" cy="5394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80160" y="1280160"/>
            <a:ext cx="77724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b="1" sz="1000">
                <a:solidFill>
                  <a:srgbClr val="4F46E5"/>
                </a:solidFill>
              </a:defRPr>
            </a:pPr>
            <a:r>
              <a:t>PROJECT PRESENTATION  |  EDTECH &amp; HUMANIZED AI</a:t>
            </a:r>
          </a:p>
          <a:p>
            <a:pPr>
              <a:spcAft>
                <a:spcPts val="400"/>
              </a:spcAft>
              <a:defRPr b="1" sz="4400">
                <a:solidFill>
                  <a:srgbClr val="0F172A"/>
                </a:solidFill>
              </a:defRPr>
            </a:pPr>
            <a:r>
              <a:t>JAROOS</a:t>
            </a:r>
          </a:p>
          <a:p>
            <a:pPr>
              <a:spcAft>
                <a:spcPts val="2000"/>
              </a:spcAft>
              <a:defRPr b="1" sz="1800">
                <a:solidFill>
                  <a:srgbClr val="4F46E5"/>
                </a:solidFill>
              </a:defRPr>
            </a:pPr>
            <a:r>
              <a:t>Interactive Multi-Sensory Educational Platform for Early Childhood</a:t>
            </a:r>
          </a:p>
          <a:p>
            <a:pPr>
              <a:spcAft>
                <a:spcPts val="2800"/>
              </a:spcAft>
              <a:defRPr sz="1200">
                <a:solidFill>
                  <a:srgbClr val="475569"/>
                </a:solidFill>
              </a:defRPr>
            </a:pPr>
            <a:r>
              <a:t>A minimalist, ad-free mobile learning environment pairing gamified tactile modules, 9 humanized companion voices, authentic Malayalam bedtime stories, and PIN-secured parental screen-time governance.</a:t>
            </a:r>
          </a:p>
          <a:p>
            <a:pPr>
              <a:defRPr b="1" sz="1100">
                <a:solidFill>
                  <a:srgbClr val="0D9488"/>
                </a:solidFill>
              </a:defRPr>
            </a:pPr>
            <a:r>
              <a:t>Flutter &amp; Dart  •  100% Offline-Ready  •  Zero Ads  •  Auto-Detect TTS  •  Parent Gate</a:t>
            </a:r>
          </a:p>
        </p:txBody>
      </p:sp>
      <p:pic>
        <p:nvPicPr>
          <p:cNvPr id="5" name="Picture 4" descr="app_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0" y="1371600"/>
            <a:ext cx="1645920" cy="16459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1645920" cy="256032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9144" bIns="9144"/>
          <a:lstStyle/>
          <a:p>
            <a:pPr algn="ctr">
              <a:defRPr b="1" sz="950">
                <a:solidFill>
                  <a:srgbClr val="4F46E5"/>
                </a:solidFill>
              </a:defRPr>
            </a:pPr>
            <a: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728655" cy="7315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b="1" sz="2200">
                <a:solidFill>
                  <a:srgbClr val="0F172A"/>
                </a:solidFill>
              </a:defRPr>
            </a:pPr>
            <a:r>
              <a:t>Presentation Structure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11 Essential Topics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42900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783080"/>
            <a:ext cx="3154680" cy="7772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b="1" sz="1150">
                <a:solidFill>
                  <a:srgbClr val="4F46E5"/>
                </a:solidFill>
              </a:defRPr>
            </a:pPr>
            <a:r>
              <a:t>01. Introduction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Overview, problem statement, and goals.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834640"/>
            <a:ext cx="342900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971800"/>
            <a:ext cx="3154680" cy="7772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b="1" sz="1150">
                <a:solidFill>
                  <a:srgbClr val="4F46E5"/>
                </a:solidFill>
              </a:defRPr>
            </a:pPr>
            <a:r>
              <a:t>02. Literature Survey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Academic prior art, methods, and gaps.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023360"/>
            <a:ext cx="342900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4160520"/>
            <a:ext cx="3154680" cy="7772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b="1" sz="1150">
                <a:solidFill>
                  <a:srgbClr val="4F46E5"/>
                </a:solidFill>
              </a:defRPr>
            </a:pPr>
            <a:r>
              <a:t>03. Drawbacks of Existing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Passive video, robotic voice, ad bloat.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212080"/>
            <a:ext cx="342900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5349240"/>
            <a:ext cx="3154680" cy="7772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b="1" sz="1150">
                <a:solidFill>
                  <a:srgbClr val="4F46E5"/>
                </a:solidFill>
              </a:defRPr>
            </a:pPr>
            <a:r>
              <a:t>04. Proposed System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JAROOS solution, advantages, and pillars.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1645920"/>
            <a:ext cx="342900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26280" y="1783080"/>
            <a:ext cx="3154680" cy="7772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b="1" sz="1150">
                <a:solidFill>
                  <a:srgbClr val="4F46E5"/>
                </a:solidFill>
              </a:defRPr>
            </a:pPr>
            <a:r>
              <a:t>05. Technologies Used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Flutter, Provider, TTS, Audio, Storage.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0" y="2834640"/>
            <a:ext cx="342900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26280" y="2971800"/>
            <a:ext cx="3154680" cy="7772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b="1" sz="1150">
                <a:solidFill>
                  <a:srgbClr val="4F46E5"/>
                </a:solidFill>
              </a:defRPr>
            </a:pPr>
            <a:r>
              <a:t>06. System Design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4-tier architecture and workflow DFDs.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89120" y="4023360"/>
            <a:ext cx="342900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26280" y="4160520"/>
            <a:ext cx="3154680" cy="7772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b="1" sz="1150">
                <a:solidFill>
                  <a:srgbClr val="4F46E5"/>
                </a:solidFill>
              </a:defRPr>
            </a:pPr>
            <a:r>
              <a:t>07. Dataset &amp; Database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Embedded NoSQL models and schemas.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89120" y="5212080"/>
            <a:ext cx="342900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26280" y="5349240"/>
            <a:ext cx="3154680" cy="7772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b="1" sz="1150">
                <a:solidFill>
                  <a:srgbClr val="4F46E5"/>
                </a:solidFill>
              </a:defRPr>
            </a:pPr>
            <a:r>
              <a:t>08. Proposed Method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Modules, voice auto-detect, and gamification.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46720" y="1645920"/>
            <a:ext cx="342900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83880" y="1783080"/>
            <a:ext cx="3154680" cy="7772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b="1" sz="1150">
                <a:solidFill>
                  <a:srgbClr val="4F46E5"/>
                </a:solidFill>
              </a:defRPr>
            </a:pPr>
            <a:r>
              <a:t>09. Results &amp; Screenshots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Test validation (55/55 passed) and UI.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46720" y="2834640"/>
            <a:ext cx="342900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183880" y="2971800"/>
            <a:ext cx="3154680" cy="7772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b="1" sz="1150">
                <a:solidFill>
                  <a:srgbClr val="4F46E5"/>
                </a:solidFill>
              </a:defRPr>
            </a:pPr>
            <a:r>
              <a:t>10. Conclusion &amp; Roadmap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Completed milestones and future AI work.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46720" y="4023360"/>
            <a:ext cx="342900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183880" y="4160520"/>
            <a:ext cx="3154680" cy="7772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b="1" sz="1150">
                <a:solidFill>
                  <a:srgbClr val="4F46E5"/>
                </a:solidFill>
              </a:defRPr>
            </a:pPr>
            <a:r>
              <a:t>11. References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Scholarly papers and technical citations.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1645920" cy="256032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9144" bIns="9144"/>
          <a:lstStyle/>
          <a:p>
            <a:pPr algn="ctr">
              <a:defRPr b="1" sz="950">
                <a:solidFill>
                  <a:srgbClr val="4F46E5"/>
                </a:solidFill>
              </a:defRPr>
            </a:pPr>
            <a:r>
              <a:t>01 | 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728655" cy="7315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b="1" sz="2200">
                <a:solidFill>
                  <a:srgbClr val="0F172A"/>
                </a:solidFill>
              </a:defRPr>
            </a:pPr>
            <a:r>
              <a:t>Introduction &amp; Project Fundamentals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Foundational Context, Problem Statement, and Core Objectives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28416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2871216" cy="4572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b="1" sz="1300">
                <a:solidFill>
                  <a:srgbClr val="4F46E5"/>
                </a:solidFill>
              </a:defRPr>
            </a:pPr>
            <a:r>
              <a:t>Project Overview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331720"/>
            <a:ext cx="2871216" cy="3840479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000"/>
              </a:spcAft>
            </a:pPr>
            <a:r>
              <a:rPr b="1" sz="1100">
                <a:solidFill>
                  <a:srgbClr val="4F46E5"/>
                </a:solidFill>
              </a:rPr>
              <a:t>•  </a:t>
            </a:r>
            <a:r>
              <a:rPr b="1" sz="1050">
                <a:solidFill>
                  <a:srgbClr val="0F172A"/>
                </a:solidFill>
              </a:rPr>
              <a:t>Target Age: </a:t>
            </a:r>
            <a:r>
              <a:rPr sz="1000">
                <a:solidFill>
                  <a:srgbClr val="475569"/>
                </a:solidFill>
              </a:rPr>
              <a:t>Designed specifically for early childhood learners (ages 3–8).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4F46E5"/>
                </a:solidFill>
              </a:rPr>
              <a:t>•  </a:t>
            </a:r>
            <a:r>
              <a:rPr b="1" sz="1050">
                <a:solidFill>
                  <a:srgbClr val="0F172A"/>
                </a:solidFill>
              </a:rPr>
              <a:t>Foundational Curriculum: </a:t>
            </a:r>
            <a:r>
              <a:rPr sz="1000">
                <a:solidFill>
                  <a:srgbClr val="475569"/>
                </a:solidFill>
              </a:rPr>
              <a:t>Alphabet, Numbers 1–20, Colors, Shapes, Animals, Fruits, Rhymes, Stories.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4F46E5"/>
                </a:solidFill>
              </a:rPr>
              <a:t>•  </a:t>
            </a:r>
            <a:r>
              <a:rPr b="1" sz="1050">
                <a:solidFill>
                  <a:srgbClr val="0F172A"/>
                </a:solidFill>
              </a:rPr>
              <a:t>Multi-Sensory Engagement: </a:t>
            </a:r>
            <a:r>
              <a:rPr sz="1000">
                <a:solidFill>
                  <a:srgbClr val="475569"/>
                </a:solidFill>
              </a:rPr>
              <a:t>Tactile touch cards paired with synchronous voice narration and chime FX.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4F46E5"/>
                </a:solidFill>
              </a:rPr>
              <a:t>•  </a:t>
            </a:r>
            <a:r>
              <a:rPr b="1" sz="1050">
                <a:solidFill>
                  <a:srgbClr val="0F172A"/>
                </a:solidFill>
              </a:rPr>
              <a:t>Ethical Preschool Design: </a:t>
            </a:r>
            <a:r>
              <a:rPr sz="1000">
                <a:solidFill>
                  <a:srgbClr val="475569"/>
                </a:solidFill>
              </a:rPr>
              <a:t>100% ad-free, distraction-free, and privacy-preserving.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25696" y="1645920"/>
            <a:ext cx="3328416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54296" y="1828800"/>
            <a:ext cx="2871216" cy="4572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b="1" sz="1300">
                <a:solidFill>
                  <a:srgbClr val="E11D48"/>
                </a:solidFill>
              </a:defRPr>
            </a:pPr>
            <a:r>
              <a:t>Problem Statement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54296" y="2331720"/>
            <a:ext cx="2871216" cy="3840479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000"/>
              </a:spcAft>
            </a:pPr>
            <a:r>
              <a:rPr b="1" sz="1100">
                <a:solidFill>
                  <a:srgbClr val="E11D48"/>
                </a:solidFill>
              </a:rPr>
              <a:t>•  </a:t>
            </a:r>
            <a:r>
              <a:rPr b="1" sz="1050">
                <a:solidFill>
                  <a:srgbClr val="0F172A"/>
                </a:solidFill>
              </a:rPr>
              <a:t>Cognitive Passivity: </a:t>
            </a:r>
            <a:r>
              <a:rPr sz="1000">
                <a:solidFill>
                  <a:srgbClr val="475569"/>
                </a:solidFill>
              </a:rPr>
              <a:t>Over-reliance on continuous video streams (e.g. YouTube Kids) retards active recall.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E11D48"/>
                </a:solidFill>
              </a:rPr>
              <a:t>•  </a:t>
            </a:r>
            <a:r>
              <a:rPr b="1" sz="1050">
                <a:solidFill>
                  <a:srgbClr val="0F172A"/>
                </a:solidFill>
              </a:rPr>
              <a:t>Robotic Monotony: </a:t>
            </a:r>
            <a:r>
              <a:rPr sz="1000">
                <a:solidFill>
                  <a:srgbClr val="475569"/>
                </a:solidFill>
              </a:rPr>
              <a:t>Standard apps utilize flat, lifeless system voices lacking emotional warmth.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E11D48"/>
                </a:solidFill>
              </a:rPr>
              <a:t>•  </a:t>
            </a:r>
            <a:r>
              <a:rPr b="1" sz="1050">
                <a:solidFill>
                  <a:srgbClr val="0F172A"/>
                </a:solidFill>
              </a:rPr>
              <a:t>Cultural Disconnect: </a:t>
            </a:r>
            <a:r>
              <a:rPr sz="1000">
                <a:solidFill>
                  <a:srgbClr val="475569"/>
                </a:solidFill>
              </a:rPr>
              <a:t>Absence of authentic Indian regional folklore (Malayalam bedtime stories).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E11D48"/>
                </a:solidFill>
              </a:rPr>
              <a:t>•  </a:t>
            </a:r>
            <a:r>
              <a:rPr b="1" sz="1050">
                <a:solidFill>
                  <a:srgbClr val="0F172A"/>
                </a:solidFill>
              </a:rPr>
              <a:t>Unregulated Exposure: </a:t>
            </a:r>
            <a:r>
              <a:rPr sz="1000">
                <a:solidFill>
                  <a:srgbClr val="475569"/>
                </a:solidFill>
              </a:rPr>
              <a:t>Lack of parental screen-time limits and subject-level curation.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19872" y="1645920"/>
            <a:ext cx="3328416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48472" y="1828800"/>
            <a:ext cx="2871216" cy="4572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b="1" sz="1300">
                <a:solidFill>
                  <a:srgbClr val="0D9488"/>
                </a:solidFill>
              </a:defRPr>
            </a:pPr>
            <a:r>
              <a:t>Project Objectives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48472" y="2331720"/>
            <a:ext cx="2871216" cy="3840479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000"/>
              </a:spcAft>
            </a:pPr>
            <a:r>
              <a:rPr b="1" sz="1100">
                <a:solidFill>
                  <a:srgbClr val="0D9488"/>
                </a:solidFill>
              </a:rPr>
              <a:t>•  </a:t>
            </a:r>
            <a:r>
              <a:rPr b="1" sz="1050">
                <a:solidFill>
                  <a:srgbClr val="0F172A"/>
                </a:solidFill>
              </a:rPr>
              <a:t>Active Tactile Learning: </a:t>
            </a:r>
            <a:r>
              <a:rPr sz="1000">
                <a:solidFill>
                  <a:srgbClr val="475569"/>
                </a:solidFill>
              </a:rPr>
              <a:t>Replace passive watching with interactive touch-and-learn activities.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0D9488"/>
                </a:solidFill>
              </a:rPr>
              <a:t>•  </a:t>
            </a:r>
            <a:r>
              <a:rPr b="1" sz="1050">
                <a:solidFill>
                  <a:srgbClr val="0F172A"/>
                </a:solidFill>
              </a:rPr>
              <a:t>Humanized Voice AI: </a:t>
            </a:r>
            <a:r>
              <a:rPr sz="1000">
                <a:solidFill>
                  <a:srgbClr val="475569"/>
                </a:solidFill>
              </a:rPr>
              <a:t>Deliver 9 expressive, pitch-tuned companion voices with audio preview.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0D9488"/>
                </a:solidFill>
              </a:rPr>
              <a:t>•  </a:t>
            </a:r>
            <a:r>
              <a:rPr b="1" sz="1050">
                <a:solidFill>
                  <a:srgbClr val="0F172A"/>
                </a:solidFill>
              </a:rPr>
              <a:t>Regional Storytelling: </a:t>
            </a:r>
            <a:r>
              <a:rPr sz="1000">
                <a:solidFill>
                  <a:srgbClr val="475569"/>
                </a:solidFill>
              </a:rPr>
              <a:t>Introduce authentic Malayalam moral tales with auto-detected native TTS.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0D9488"/>
                </a:solidFill>
              </a:rPr>
              <a:t>•  </a:t>
            </a:r>
            <a:r>
              <a:rPr b="1" sz="1050">
                <a:solidFill>
                  <a:srgbClr val="0F172A"/>
                </a:solidFill>
              </a:rPr>
              <a:t>Parental Governance: </a:t>
            </a:r>
            <a:r>
              <a:rPr sz="1000">
                <a:solidFill>
                  <a:srgbClr val="475569"/>
                </a:solidFill>
              </a:rPr>
              <a:t>PIN-restricted daily screen-time budgeting and module toggling.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1645920" cy="256032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9144" bIns="9144"/>
          <a:lstStyle/>
          <a:p>
            <a:pPr algn="ctr">
              <a:defRPr b="1" sz="950">
                <a:solidFill>
                  <a:srgbClr val="4F46E5"/>
                </a:solidFill>
              </a:defRPr>
            </a:pPr>
            <a:r>
              <a:t>02 | LITERATURE SURVEY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728655" cy="7315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b="1" sz="2200">
                <a:solidFill>
                  <a:srgbClr val="0F172A"/>
                </a:solidFill>
              </a:defRPr>
            </a:pPr>
            <a:r>
              <a:t>Literature Survey &amp; Academic Prior Art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Analysis of Related EdTech Systems and Identified Research Gaps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28416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2871216" cy="4572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b="1" sz="1300">
                <a:solidFill>
                  <a:srgbClr val="4F46E5"/>
                </a:solidFill>
              </a:defRPr>
            </a:pPr>
            <a:r>
              <a:t>Existing Research &amp; Systems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331720"/>
            <a:ext cx="2871216" cy="3840479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000"/>
              </a:spcAft>
            </a:pPr>
            <a:r>
              <a:rPr b="1" sz="1100">
                <a:solidFill>
                  <a:srgbClr val="4F46E5"/>
                </a:solidFill>
              </a:rPr>
              <a:t>•  </a:t>
            </a:r>
            <a:r>
              <a:rPr b="1" sz="1050">
                <a:solidFill>
                  <a:srgbClr val="0F172A"/>
                </a:solidFill>
              </a:rPr>
              <a:t>Papert's Constructionism: </a:t>
            </a:r>
            <a:r>
              <a:rPr sz="1000">
                <a:solidFill>
                  <a:srgbClr val="475569"/>
                </a:solidFill>
              </a:rPr>
              <a:t>Emphasizes hands-on tactile manipulation for cognitive development.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4F46E5"/>
                </a:solidFill>
              </a:rPr>
              <a:t>•  </a:t>
            </a:r>
            <a:r>
              <a:rPr b="1" sz="1050">
                <a:solidFill>
                  <a:srgbClr val="0F172A"/>
                </a:solidFill>
              </a:rPr>
              <a:t>Kuhl et al. (Neuroscience): </a:t>
            </a:r>
            <a:r>
              <a:rPr sz="1000">
                <a:solidFill>
                  <a:srgbClr val="475569"/>
                </a:solidFill>
              </a:rPr>
              <a:t>Early exposure to native mother-tongues accelerates linguistic mastery.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4F46E5"/>
                </a:solidFill>
              </a:rPr>
              <a:t>•  </a:t>
            </a:r>
            <a:r>
              <a:rPr b="1" sz="1050">
                <a:solidFill>
                  <a:srgbClr val="0F172A"/>
                </a:solidFill>
              </a:rPr>
              <a:t>Duolingo ABC &amp; Khan Kids: </a:t>
            </a:r>
            <a:r>
              <a:rPr sz="1000">
                <a:solidFill>
                  <a:srgbClr val="475569"/>
                </a:solidFill>
              </a:rPr>
              <a:t>Demonstrated the efficacy of bite-sized gamified literacy pathways.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4F46E5"/>
                </a:solidFill>
              </a:rPr>
              <a:t>•  </a:t>
            </a:r>
            <a:r>
              <a:rPr b="1" sz="1050">
                <a:solidFill>
                  <a:srgbClr val="0F172A"/>
                </a:solidFill>
              </a:rPr>
              <a:t>UNESCO Early Literacy: </a:t>
            </a:r>
            <a:r>
              <a:rPr sz="1000">
                <a:solidFill>
                  <a:srgbClr val="475569"/>
                </a:solidFill>
              </a:rPr>
              <a:t>Highlights the critical need for regional storytelling in preschool years.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25696" y="1645920"/>
            <a:ext cx="3328416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54296" y="1828800"/>
            <a:ext cx="2871216" cy="4572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b="1" sz="1300">
                <a:solidFill>
                  <a:srgbClr val="D97706"/>
                </a:solidFill>
              </a:defRPr>
            </a:pPr>
            <a:r>
              <a:t>Methods &amp; Technologies Used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54296" y="2331720"/>
            <a:ext cx="2871216" cy="3840479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000"/>
              </a:spcAft>
            </a:pPr>
            <a:r>
              <a:rPr b="1" sz="1100">
                <a:solidFill>
                  <a:srgbClr val="D97706"/>
                </a:solidFill>
              </a:rPr>
              <a:t>•  </a:t>
            </a:r>
            <a:r>
              <a:rPr b="1" sz="1050">
                <a:solidFill>
                  <a:srgbClr val="0F172A"/>
                </a:solidFill>
              </a:rPr>
              <a:t>Gamification Elements: </a:t>
            </a:r>
            <a:r>
              <a:rPr sz="1000">
                <a:solidFill>
                  <a:srgbClr val="475569"/>
                </a:solidFill>
              </a:rPr>
              <a:t>Point scoring, continuous daily streaks, and digital badge achievements.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D97706"/>
                </a:solidFill>
              </a:rPr>
              <a:t>•  </a:t>
            </a:r>
            <a:r>
              <a:rPr b="1" sz="1050">
                <a:solidFill>
                  <a:srgbClr val="0F172A"/>
                </a:solidFill>
              </a:rPr>
              <a:t>Standard TTS Engines: </a:t>
            </a:r>
            <a:r>
              <a:rPr sz="1000">
                <a:solidFill>
                  <a:srgbClr val="475569"/>
                </a:solidFill>
              </a:rPr>
              <a:t>Default OS robotic voice synthesis without pitch character tuning.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D97706"/>
                </a:solidFill>
              </a:rPr>
              <a:t>•  </a:t>
            </a:r>
            <a:r>
              <a:rPr b="1" sz="1050">
                <a:solidFill>
                  <a:srgbClr val="0F172A"/>
                </a:solidFill>
              </a:rPr>
              <a:t>Video Stream Engines: </a:t>
            </a:r>
            <a:r>
              <a:rPr sz="1000">
                <a:solidFill>
                  <a:srgbClr val="475569"/>
                </a:solidFill>
              </a:rPr>
              <a:t>Continuous pre-rendered cartoon animations streamed over HTTP.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D97706"/>
                </a:solidFill>
              </a:rPr>
              <a:t>•  </a:t>
            </a:r>
            <a:r>
              <a:rPr b="1" sz="1050">
                <a:solidFill>
                  <a:srgbClr val="0F172A"/>
                </a:solidFill>
              </a:rPr>
              <a:t>Cloud Dependency: </a:t>
            </a:r>
            <a:r>
              <a:rPr sz="1000">
                <a:solidFill>
                  <a:srgbClr val="475569"/>
                </a:solidFill>
              </a:rPr>
              <a:t>Mandatory continuous internet connectivity for asset rendering.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19872" y="1645920"/>
            <a:ext cx="3328416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48472" y="1828800"/>
            <a:ext cx="2871216" cy="4572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b="1" sz="1300">
                <a:solidFill>
                  <a:srgbClr val="E11D48"/>
                </a:solidFill>
              </a:defRPr>
            </a:pPr>
            <a:r>
              <a:t>Research Gaps Identified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48472" y="2331720"/>
            <a:ext cx="2871216" cy="3840479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000"/>
              </a:spcAft>
            </a:pPr>
            <a:r>
              <a:rPr b="1" sz="1100">
                <a:solidFill>
                  <a:srgbClr val="E11D48"/>
                </a:solidFill>
              </a:rPr>
              <a:t>•  </a:t>
            </a:r>
            <a:r>
              <a:rPr b="1" sz="1050">
                <a:solidFill>
                  <a:srgbClr val="0F172A"/>
                </a:solidFill>
              </a:rPr>
              <a:t>Absence of Regional Folk Tales: </a:t>
            </a:r>
            <a:r>
              <a:rPr sz="1000">
                <a:solidFill>
                  <a:srgbClr val="475569"/>
                </a:solidFill>
              </a:rPr>
              <a:t>Global apps ignore indigenous stories like Malayalam moral folklore.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E11D48"/>
                </a:solidFill>
              </a:rPr>
              <a:t>•  </a:t>
            </a:r>
            <a:r>
              <a:rPr b="1" sz="1050">
                <a:solidFill>
                  <a:srgbClr val="0F172A"/>
                </a:solidFill>
              </a:rPr>
              <a:t>Monotone Voice Delivery: </a:t>
            </a:r>
            <a:r>
              <a:rPr sz="1000">
                <a:solidFill>
                  <a:srgbClr val="475569"/>
                </a:solidFill>
              </a:rPr>
              <a:t>Lack of animated, pitch-modulated companion personas ('wow factors').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E11D48"/>
                </a:solidFill>
              </a:rPr>
              <a:t>•  </a:t>
            </a:r>
            <a:r>
              <a:rPr b="1" sz="1050">
                <a:solidFill>
                  <a:srgbClr val="0F172A"/>
                </a:solidFill>
              </a:rPr>
              <a:t>Zero Offline Readiness: </a:t>
            </a:r>
            <a:r>
              <a:rPr sz="1000">
                <a:solidFill>
                  <a:srgbClr val="475569"/>
                </a:solidFill>
              </a:rPr>
              <a:t>Current streaming apps fail completely during offline travel.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E11D48"/>
                </a:solidFill>
              </a:rPr>
              <a:t>•  </a:t>
            </a:r>
            <a:r>
              <a:rPr b="1" sz="1050">
                <a:solidFill>
                  <a:srgbClr val="0F172A"/>
                </a:solidFill>
              </a:rPr>
              <a:t>Missing Parental Locks: </a:t>
            </a:r>
            <a:r>
              <a:rPr sz="1000">
                <a:solidFill>
                  <a:srgbClr val="475569"/>
                </a:solidFill>
              </a:rPr>
              <a:t>No robust PIN barriers or customizable screen-time caps.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1645920" cy="256032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9144" bIns="9144"/>
          <a:lstStyle/>
          <a:p>
            <a:pPr algn="ctr">
              <a:defRPr b="1" sz="950">
                <a:solidFill>
                  <a:srgbClr val="4F46E5"/>
                </a:solidFill>
              </a:defRPr>
            </a:pPr>
            <a:r>
              <a:t>03 | LIMITATIONS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728655" cy="7315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b="1" sz="2200">
                <a:solidFill>
                  <a:srgbClr val="0F172A"/>
                </a:solidFill>
              </a:defRPr>
            </a:pPr>
            <a:r>
              <a:t>Drawbacks of Existing Systems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Critical Flaws and Challenges in Current Commercial Learning Apps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6636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4709160" cy="4572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b="1" sz="1300">
                <a:solidFill>
                  <a:srgbClr val="E11D48"/>
                </a:solidFill>
              </a:defRPr>
            </a:pPr>
            <a:r>
              <a:t>Limitations of Current Systems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331720"/>
            <a:ext cx="4709160" cy="3840479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000"/>
              </a:spcAft>
            </a:pPr>
            <a:r>
              <a:rPr b="1" sz="1100">
                <a:solidFill>
                  <a:srgbClr val="E11D48"/>
                </a:solidFill>
              </a:rPr>
              <a:t>•  </a:t>
            </a:r>
            <a:r>
              <a:rPr b="1" sz="1050">
                <a:solidFill>
                  <a:srgbClr val="0F172A"/>
                </a:solidFill>
              </a:rPr>
              <a:t>Passive Screen Addiction: </a:t>
            </a:r>
            <a:r>
              <a:rPr sz="1000">
                <a:solidFill>
                  <a:srgbClr val="475569"/>
                </a:solidFill>
              </a:rPr>
              <a:t>Kids stare at endless autoplay reels without making decisions or recalling concepts.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E11D48"/>
                </a:solidFill>
              </a:rPr>
              <a:t>•  </a:t>
            </a:r>
            <a:r>
              <a:rPr b="1" sz="1050">
                <a:solidFill>
                  <a:srgbClr val="0F172A"/>
                </a:solidFill>
              </a:rPr>
              <a:t>Robotic, Monotone TTS: </a:t>
            </a:r>
            <a:r>
              <a:rPr sz="1000">
                <a:solidFill>
                  <a:srgbClr val="475569"/>
                </a:solidFill>
              </a:rPr>
              <a:t>Generic system voices sound cold, mechanical, and boring to young toddlers.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E11D48"/>
                </a:solidFill>
              </a:rPr>
              <a:t>•  </a:t>
            </a:r>
            <a:r>
              <a:rPr b="1" sz="1050">
                <a:solidFill>
                  <a:srgbClr val="0F172A"/>
                </a:solidFill>
              </a:rPr>
              <a:t>Western Monolingual Bias: </a:t>
            </a:r>
            <a:r>
              <a:rPr sz="1000">
                <a:solidFill>
                  <a:srgbClr val="475569"/>
                </a:solidFill>
              </a:rPr>
              <a:t>Exclusively Latin/English phonics; completely overlooks Indian regional tongues.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E11D48"/>
                </a:solidFill>
              </a:rPr>
              <a:t>•  </a:t>
            </a:r>
            <a:r>
              <a:rPr b="1" sz="1050">
                <a:solidFill>
                  <a:srgbClr val="0F172A"/>
                </a:solidFill>
              </a:rPr>
              <a:t>Visual &amp; Auditory Clutter: </a:t>
            </a:r>
            <a:r>
              <a:rPr sz="1000">
                <a:solidFill>
                  <a:srgbClr val="475569"/>
                </a:solidFill>
              </a:rPr>
              <a:t>Overwhelming strobe-like animations that lead to rapid attention fatigue.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645920"/>
            <a:ext cx="516636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828800"/>
            <a:ext cx="4709160" cy="4572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b="1" sz="1300">
                <a:solidFill>
                  <a:srgbClr val="4F46E5"/>
                </a:solidFill>
              </a:defRPr>
            </a:pPr>
            <a:r>
              <a:t>Problems &amp; Challenges Identified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331720"/>
            <a:ext cx="4709160" cy="3840479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000"/>
              </a:spcAft>
            </a:pPr>
            <a:r>
              <a:rPr b="1" sz="1100">
                <a:solidFill>
                  <a:srgbClr val="4F46E5"/>
                </a:solidFill>
              </a:rPr>
              <a:t>•  </a:t>
            </a:r>
            <a:r>
              <a:rPr b="1" sz="1050">
                <a:solidFill>
                  <a:srgbClr val="0F172A"/>
                </a:solidFill>
              </a:rPr>
              <a:t>Predatory In-App Purchases: </a:t>
            </a:r>
            <a:r>
              <a:rPr sz="1000">
                <a:solidFill>
                  <a:srgbClr val="475569"/>
                </a:solidFill>
              </a:rPr>
              <a:t>Accidental toddler taps trigger recurring subscription traps and pop-ups.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4F46E5"/>
                </a:solidFill>
              </a:rPr>
              <a:t>•  </a:t>
            </a:r>
            <a:r>
              <a:rPr b="1" sz="1050">
                <a:solidFill>
                  <a:srgbClr val="0F172A"/>
                </a:solidFill>
              </a:rPr>
              <a:t>Intrusive Banner Ads: </a:t>
            </a:r>
            <a:r>
              <a:rPr sz="1000">
                <a:solidFill>
                  <a:srgbClr val="475569"/>
                </a:solidFill>
              </a:rPr>
              <a:t>Unvetted advertisements jeopardize child safety and interrupt learning.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4F46E5"/>
                </a:solidFill>
              </a:rPr>
              <a:t>•  </a:t>
            </a:r>
            <a:r>
              <a:rPr b="1" sz="1050">
                <a:solidFill>
                  <a:srgbClr val="0F172A"/>
                </a:solidFill>
              </a:rPr>
              <a:t>No Parental Screen Caps: </a:t>
            </a:r>
            <a:r>
              <a:rPr sz="1000">
                <a:solidFill>
                  <a:srgbClr val="475569"/>
                </a:solidFill>
              </a:rPr>
              <a:t>Parents cannot prevent excessive device usage or lock out distracting games.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4F46E5"/>
                </a:solidFill>
              </a:rPr>
              <a:t>•  </a:t>
            </a:r>
            <a:r>
              <a:rPr b="1" sz="1050">
                <a:solidFill>
                  <a:srgbClr val="0F172A"/>
                </a:solidFill>
              </a:rPr>
              <a:t>High Bandwidth Demands: </a:t>
            </a:r>
            <a:r>
              <a:rPr sz="1000">
                <a:solidFill>
                  <a:srgbClr val="475569"/>
                </a:solidFill>
              </a:rPr>
              <a:t>Constant buffering, high data consumption, and failure in offline zones.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1645920" cy="256032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9144" bIns="9144"/>
          <a:lstStyle/>
          <a:p>
            <a:pPr algn="ctr">
              <a:defRPr b="1" sz="950">
                <a:solidFill>
                  <a:srgbClr val="4F46E5"/>
                </a:solidFill>
              </a:defRPr>
            </a:pPr>
            <a:r>
              <a:t>04 | PROPOSED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728655" cy="7315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b="1" sz="2200">
                <a:solidFill>
                  <a:srgbClr val="0F172A"/>
                </a:solidFill>
              </a:defRPr>
            </a:pPr>
            <a:r>
              <a:t>Proposed System: JAROOS Solution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A Child-Centric, Multi-Sensory, and Offline-First Ecosystem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28416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2871216" cy="4572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b="1" sz="1300">
                <a:solidFill>
                  <a:srgbClr val="4F46E5"/>
                </a:solidFill>
              </a:defRPr>
            </a:pPr>
            <a:r>
              <a:t>Overview of Proposed Solution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331720"/>
            <a:ext cx="2871216" cy="3840479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000"/>
              </a:spcAft>
            </a:pPr>
            <a:r>
              <a:rPr b="1" sz="1100">
                <a:solidFill>
                  <a:srgbClr val="4F46E5"/>
                </a:solidFill>
              </a:rPr>
              <a:t>•  </a:t>
            </a:r>
            <a:r>
              <a:rPr b="1" sz="1050">
                <a:solidFill>
                  <a:srgbClr val="0F172A"/>
                </a:solidFill>
              </a:rPr>
              <a:t>All-in-One Early Learning: </a:t>
            </a:r>
            <a:r>
              <a:rPr sz="1000">
                <a:solidFill>
                  <a:srgbClr val="475569"/>
                </a:solidFill>
              </a:rPr>
              <a:t>Covers Alphabet, Numbers, Colors, Shapes, Animals, Fruits, Rhymes, Stories.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4F46E5"/>
                </a:solidFill>
              </a:rPr>
              <a:t>•  </a:t>
            </a:r>
            <a:r>
              <a:rPr b="1" sz="1050">
                <a:solidFill>
                  <a:srgbClr val="0F172A"/>
                </a:solidFill>
              </a:rPr>
              <a:t>Multi-Companion Voice AI: </a:t>
            </a:r>
            <a:r>
              <a:rPr sz="1000">
                <a:solidFill>
                  <a:srgbClr val="475569"/>
                </a:solidFill>
              </a:rPr>
              <a:t>9 distinct selectable companions (Sparky, Dora, Unni, Meenu, etc.).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4F46E5"/>
                </a:solidFill>
              </a:rPr>
              <a:t>•  </a:t>
            </a:r>
            <a:r>
              <a:rPr b="1" sz="1050">
                <a:solidFill>
                  <a:srgbClr val="0F172A"/>
                </a:solidFill>
              </a:rPr>
              <a:t>Dual-Language Bedtime Stories: </a:t>
            </a:r>
            <a:r>
              <a:rPr sz="1000">
                <a:solidFill>
                  <a:srgbClr val="475569"/>
                </a:solidFill>
              </a:rPr>
              <a:t>6 classic English + 6 authentic Malayalam tales with 'Read to Me 🔊'.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4F46E5"/>
                </a:solidFill>
              </a:rPr>
              <a:t>•  </a:t>
            </a:r>
            <a:r>
              <a:rPr b="1" sz="1050">
                <a:solidFill>
                  <a:srgbClr val="0F172A"/>
                </a:solidFill>
              </a:rPr>
              <a:t>Parental Security Shield: </a:t>
            </a:r>
            <a:r>
              <a:rPr sz="1000">
                <a:solidFill>
                  <a:srgbClr val="475569"/>
                </a:solidFill>
              </a:rPr>
              <a:t>PIN-secured dashboard with screen-time limits and module switches.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25696" y="1645920"/>
            <a:ext cx="3328416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54296" y="1828800"/>
            <a:ext cx="2871216" cy="4572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b="1" sz="1300">
                <a:solidFill>
                  <a:srgbClr val="0D9488"/>
                </a:solidFill>
              </a:defRPr>
            </a:pPr>
            <a:r>
              <a:t>How It Solves Existing Flaws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54296" y="2331720"/>
            <a:ext cx="2871216" cy="3840479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000"/>
              </a:spcAft>
            </a:pPr>
            <a:r>
              <a:rPr b="1" sz="1100">
                <a:solidFill>
                  <a:srgbClr val="0D9488"/>
                </a:solidFill>
              </a:rPr>
              <a:t>•  </a:t>
            </a:r>
            <a:r>
              <a:rPr b="1" sz="1050">
                <a:solidFill>
                  <a:srgbClr val="0F172A"/>
                </a:solidFill>
              </a:rPr>
              <a:t>Active Over Passive: </a:t>
            </a:r>
            <a:r>
              <a:rPr sz="1000">
                <a:solidFill>
                  <a:srgbClr val="475569"/>
                </a:solidFill>
              </a:rPr>
              <a:t>Requires physical card taps and interactive choices to trigger rewards.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0D9488"/>
                </a:solidFill>
              </a:rPr>
              <a:t>•  </a:t>
            </a:r>
            <a:r>
              <a:rPr b="1" sz="1050">
                <a:solidFill>
                  <a:srgbClr val="0F172A"/>
                </a:solidFill>
              </a:rPr>
              <a:t>Humanized Emotion: </a:t>
            </a:r>
            <a:r>
              <a:rPr sz="1000">
                <a:solidFill>
                  <a:srgbClr val="475569"/>
                </a:solidFill>
              </a:rPr>
              <a:t>Pitch-modulated voices with cheerful encouragement replace robotic monotone.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0D9488"/>
                </a:solidFill>
              </a:rPr>
              <a:t>•  </a:t>
            </a:r>
            <a:r>
              <a:rPr b="1" sz="1050">
                <a:solidFill>
                  <a:srgbClr val="0F172A"/>
                </a:solidFill>
              </a:rPr>
              <a:t>Cultural Grounding: </a:t>
            </a:r>
            <a:r>
              <a:rPr sz="1000">
                <a:solidFill>
                  <a:srgbClr val="475569"/>
                </a:solidFill>
              </a:rPr>
              <a:t>Native Malayalam storytelling preserved with clean English UI navigation.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0D9488"/>
                </a:solidFill>
              </a:rPr>
              <a:t>•  </a:t>
            </a:r>
            <a:r>
              <a:rPr b="1" sz="1050">
                <a:solidFill>
                  <a:srgbClr val="0F172A"/>
                </a:solidFill>
              </a:rPr>
              <a:t>Parental Control: </a:t>
            </a:r>
            <a:r>
              <a:rPr sz="1000">
                <a:solidFill>
                  <a:srgbClr val="475569"/>
                </a:solidFill>
              </a:rPr>
              <a:t>Enforces healthy digital screen habits through automatic session timeouts.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19872" y="1645920"/>
            <a:ext cx="3328416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48472" y="1828800"/>
            <a:ext cx="2871216" cy="4572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b="1" sz="1300">
                <a:solidFill>
                  <a:srgbClr val="D97706"/>
                </a:solidFill>
              </a:defRPr>
            </a:pPr>
            <a:r>
              <a:t>Key Advantages of JAROOS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48472" y="2331720"/>
            <a:ext cx="2871216" cy="3840479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000"/>
              </a:spcAft>
            </a:pPr>
            <a:r>
              <a:rPr b="1" sz="1100">
                <a:solidFill>
                  <a:srgbClr val="D97706"/>
                </a:solidFill>
              </a:rPr>
              <a:t>•  </a:t>
            </a:r>
            <a:r>
              <a:rPr b="1" sz="1050">
                <a:solidFill>
                  <a:srgbClr val="0F172A"/>
                </a:solidFill>
              </a:rPr>
              <a:t>100% Ad-Free &amp; Safe: </a:t>
            </a:r>
            <a:r>
              <a:rPr sz="1000">
                <a:solidFill>
                  <a:srgbClr val="475569"/>
                </a:solidFill>
              </a:rPr>
              <a:t>Zero advertisements, zero analytics tracking, and zero hidden payments.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D97706"/>
                </a:solidFill>
              </a:rPr>
              <a:t>•  </a:t>
            </a:r>
            <a:r>
              <a:rPr b="1" sz="1050">
                <a:solidFill>
                  <a:srgbClr val="0F172A"/>
                </a:solidFill>
              </a:rPr>
              <a:t>Full Offline Functionality: </a:t>
            </a:r>
            <a:r>
              <a:rPr sz="1000">
                <a:solidFill>
                  <a:srgbClr val="475569"/>
                </a:solidFill>
              </a:rPr>
              <a:t>Entire 54.89 MB app executes locally with zero network latency.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D97706"/>
                </a:solidFill>
              </a:rPr>
              <a:t>•  </a:t>
            </a:r>
            <a:r>
              <a:rPr b="1" sz="1050">
                <a:solidFill>
                  <a:srgbClr val="0F172A"/>
                </a:solidFill>
              </a:rPr>
              <a:t>Adaptive TTS Switching: </a:t>
            </a:r>
            <a:r>
              <a:rPr sz="1000">
                <a:solidFill>
                  <a:srgbClr val="475569"/>
                </a:solidFill>
              </a:rPr>
              <a:t>Automatically switches to native ml-IN voice when reading Malayalam.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D97706"/>
                </a:solidFill>
              </a:rPr>
              <a:t>•  </a:t>
            </a:r>
            <a:r>
              <a:rPr b="1" sz="1050">
                <a:solidFill>
                  <a:srgbClr val="0F172A"/>
                </a:solidFill>
              </a:rPr>
              <a:t>Seamless Performance: </a:t>
            </a:r>
            <a:r>
              <a:rPr sz="1000">
                <a:solidFill>
                  <a:srgbClr val="475569"/>
                </a:solidFill>
              </a:rPr>
              <a:t>Fluid 60–120 FPS animations on phones and tablets.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1645920" cy="256032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9144" bIns="9144"/>
          <a:lstStyle/>
          <a:p>
            <a:pPr algn="ctr">
              <a:defRPr b="1" sz="950">
                <a:solidFill>
                  <a:srgbClr val="4F46E5"/>
                </a:solidFill>
              </a:defRPr>
            </a:pPr>
            <a:r>
              <a:t>05 | TECHNOLOGIES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728655" cy="7315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b="1" sz="2200">
                <a:solidFill>
                  <a:srgbClr val="0F172A"/>
                </a:solidFill>
              </a:defRPr>
            </a:pPr>
            <a:r>
              <a:t>Technology Stack &amp; Frameworks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Core Architectural Tools, Libraries, and Execution Platforms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450592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1993392" cy="4572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b="1" sz="1300">
                <a:solidFill>
                  <a:srgbClr val="4F46E5"/>
                </a:solidFill>
              </a:defRPr>
            </a:pPr>
            <a:r>
              <a:t>Front-End UI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331720"/>
            <a:ext cx="1993392" cy="3840479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000"/>
              </a:spcAft>
            </a:pPr>
            <a:r>
              <a:rPr b="1" sz="1100">
                <a:solidFill>
                  <a:srgbClr val="4F46E5"/>
                </a:solidFill>
              </a:rPr>
              <a:t>•  </a:t>
            </a:r>
            <a:r>
              <a:rPr b="1" sz="1050">
                <a:solidFill>
                  <a:srgbClr val="0F172A"/>
                </a:solidFill>
              </a:rPr>
              <a:t>Flutter 3.x: </a:t>
            </a:r>
            <a:r>
              <a:rPr sz="1000">
                <a:solidFill>
                  <a:srgbClr val="475569"/>
                </a:solidFill>
              </a:rPr>
              <a:t>Reactive UI toolkit compiling to native ARM machine code.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4F46E5"/>
                </a:solidFill>
              </a:rPr>
              <a:t>•  </a:t>
            </a:r>
            <a:r>
              <a:rPr b="1" sz="1050">
                <a:solidFill>
                  <a:srgbClr val="0F172A"/>
                </a:solidFill>
              </a:rPr>
              <a:t>Dart Language: </a:t>
            </a:r>
            <a:r>
              <a:rPr sz="1000">
                <a:solidFill>
                  <a:srgbClr val="475569"/>
                </a:solidFill>
              </a:rPr>
              <a:t>Type-safe, null-safe language optimized for 60–120 FPS.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4F46E5"/>
                </a:solidFill>
              </a:rPr>
              <a:t>•  </a:t>
            </a:r>
            <a:r>
              <a:rPr b="1" sz="1050">
                <a:solidFill>
                  <a:srgbClr val="0F172A"/>
                </a:solidFill>
              </a:rPr>
              <a:t>Material 3: </a:t>
            </a:r>
            <a:r>
              <a:rPr sz="1000">
                <a:solidFill>
                  <a:srgbClr val="475569"/>
                </a:solidFill>
              </a:rPr>
              <a:t>Modern, child-friendly design system with soft shadows.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4F46E5"/>
                </a:solidFill>
              </a:rPr>
              <a:t>•  </a:t>
            </a:r>
            <a:r>
              <a:rPr b="1" sz="1050">
                <a:solidFill>
                  <a:srgbClr val="0F172A"/>
                </a:solidFill>
              </a:rPr>
              <a:t>Google Fonts: </a:t>
            </a:r>
            <a:r>
              <a:rPr sz="1000">
                <a:solidFill>
                  <a:srgbClr val="475569"/>
                </a:solidFill>
              </a:rPr>
              <a:t>Fredoka &amp; Nunito for high pre-literacy legibility.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83864" y="1645920"/>
            <a:ext cx="2450592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12464" y="1828800"/>
            <a:ext cx="1993392" cy="4572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b="1" sz="1300">
                <a:solidFill>
                  <a:srgbClr val="0D9488"/>
                </a:solidFill>
              </a:defRPr>
            </a:pPr>
            <a:r>
              <a:t>State &amp; Logic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12464" y="2331720"/>
            <a:ext cx="1993392" cy="3840479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000"/>
              </a:spcAft>
            </a:pPr>
            <a:r>
              <a:rPr b="1" sz="1100">
                <a:solidFill>
                  <a:srgbClr val="0D9488"/>
                </a:solidFill>
              </a:rPr>
              <a:t>•  </a:t>
            </a:r>
            <a:r>
              <a:rPr b="1" sz="1050">
                <a:solidFill>
                  <a:srgbClr val="0F172A"/>
                </a:solidFill>
              </a:rPr>
              <a:t>Provider Pattern: </a:t>
            </a:r>
            <a:r>
              <a:rPr sz="1000">
                <a:solidFill>
                  <a:srgbClr val="475569"/>
                </a:solidFill>
              </a:rPr>
              <a:t>Decoupled state management using ChangeNotifier.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0D9488"/>
                </a:solidFill>
              </a:rPr>
              <a:t>•  </a:t>
            </a:r>
            <a:r>
              <a:rPr b="1" sz="1050">
                <a:solidFill>
                  <a:srgbClr val="0F172A"/>
                </a:solidFill>
              </a:rPr>
              <a:t>Modular Providers: </a:t>
            </a:r>
            <a:r>
              <a:rPr sz="1000">
                <a:solidFill>
                  <a:srgbClr val="475569"/>
                </a:solidFill>
              </a:rPr>
              <a:t>LearningProvider, ParentProvider, AudioProvider.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0D9488"/>
                </a:solidFill>
              </a:rPr>
              <a:t>•  </a:t>
            </a:r>
            <a:r>
              <a:rPr b="1" sz="1050">
                <a:solidFill>
                  <a:srgbClr val="0F172A"/>
                </a:solidFill>
              </a:rPr>
              <a:t>Scoped Rebuilds: </a:t>
            </a:r>
            <a:r>
              <a:rPr sz="1000">
                <a:solidFill>
                  <a:srgbClr val="475569"/>
                </a:solidFill>
              </a:rPr>
              <a:t>Isolates UI updates to eliminate memory bloat.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0D9488"/>
                </a:solidFill>
              </a:rPr>
              <a:t>•  </a:t>
            </a:r>
            <a:r>
              <a:rPr b="1" sz="1050">
                <a:solidFill>
                  <a:srgbClr val="0F172A"/>
                </a:solidFill>
              </a:rPr>
              <a:t>MVVM Pattern: </a:t>
            </a:r>
            <a:r>
              <a:rPr sz="1000">
                <a:solidFill>
                  <a:srgbClr val="475569"/>
                </a:solidFill>
              </a:rPr>
              <a:t>Clean separation of presentation, state, and services.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6208" y="1645920"/>
            <a:ext cx="2450592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64808" y="1828800"/>
            <a:ext cx="1993392" cy="4572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b="1" sz="1300">
                <a:solidFill>
                  <a:srgbClr val="D97706"/>
                </a:solidFill>
              </a:defRPr>
            </a:pPr>
            <a:r>
              <a:t>Audio &amp; Voice AI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4808" y="2331720"/>
            <a:ext cx="1993392" cy="3840479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000"/>
              </a:spcAft>
            </a:pPr>
            <a:r>
              <a:rPr b="1" sz="1100">
                <a:solidFill>
                  <a:srgbClr val="D97706"/>
                </a:solidFill>
              </a:rPr>
              <a:t>•  </a:t>
            </a:r>
            <a:r>
              <a:rPr b="1" sz="1050">
                <a:solidFill>
                  <a:srgbClr val="0F172A"/>
                </a:solidFill>
              </a:rPr>
              <a:t>flutter_tts: </a:t>
            </a:r>
            <a:r>
              <a:rPr sz="1000">
                <a:solidFill>
                  <a:srgbClr val="475569"/>
                </a:solidFill>
              </a:rPr>
              <a:t>Native Android TextToSpeech engine integration.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D97706"/>
                </a:solidFill>
              </a:rPr>
              <a:t>•  </a:t>
            </a:r>
            <a:r>
              <a:rPr b="1" sz="1050">
                <a:solidFill>
                  <a:srgbClr val="0F172A"/>
                </a:solidFill>
              </a:rPr>
              <a:t>Dynamic Pitch/Rate: </a:t>
            </a:r>
            <a:r>
              <a:rPr sz="1000">
                <a:solidFill>
                  <a:srgbClr val="475569"/>
                </a:solidFill>
              </a:rPr>
              <a:t>Pitches 0.92–1.34; speech rates 0.42–0.49.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D97706"/>
                </a:solidFill>
              </a:rPr>
              <a:t>•  </a:t>
            </a:r>
            <a:r>
              <a:rPr b="1" sz="1050">
                <a:solidFill>
                  <a:srgbClr val="0F172A"/>
                </a:solidFill>
              </a:rPr>
              <a:t>audioplayers: </a:t>
            </a:r>
            <a:r>
              <a:rPr sz="1000">
                <a:solidFill>
                  <a:srgbClr val="475569"/>
                </a:solidFill>
              </a:rPr>
              <a:t>Asynchronous tactile chimes and celebration fanfares.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D97706"/>
                </a:solidFill>
              </a:rPr>
              <a:t>•  </a:t>
            </a:r>
            <a:r>
              <a:rPr b="1" sz="1050">
                <a:solidFill>
                  <a:srgbClr val="0F172A"/>
                </a:solidFill>
              </a:rPr>
              <a:t>Bilingual Routing: </a:t>
            </a:r>
            <a:r>
              <a:rPr sz="1000">
                <a:solidFill>
                  <a:srgbClr val="475569"/>
                </a:solidFill>
              </a:rPr>
              <a:t>Instant switching between en-US and ml-IN.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88552" y="1645920"/>
            <a:ext cx="2450592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17152" y="1828800"/>
            <a:ext cx="1993392" cy="4572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b="1" sz="1300">
                <a:solidFill>
                  <a:srgbClr val="E11D48"/>
                </a:solidFill>
              </a:defRPr>
            </a:pPr>
            <a:r>
              <a:t>Storage &amp; Build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17152" y="2331720"/>
            <a:ext cx="1993392" cy="3840479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000"/>
              </a:spcAft>
            </a:pPr>
            <a:r>
              <a:rPr b="1" sz="1100">
                <a:solidFill>
                  <a:srgbClr val="E11D48"/>
                </a:solidFill>
              </a:rPr>
              <a:t>•  </a:t>
            </a:r>
            <a:r>
              <a:rPr b="1" sz="1050">
                <a:solidFill>
                  <a:srgbClr val="0F172A"/>
                </a:solidFill>
              </a:rPr>
              <a:t>shared_preferences: </a:t>
            </a:r>
            <a:r>
              <a:rPr sz="1000">
                <a:solidFill>
                  <a:srgbClr val="475569"/>
                </a:solidFill>
              </a:rPr>
              <a:t>Local key-value and structured cache engine.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E11D48"/>
                </a:solidFill>
              </a:rPr>
              <a:t>•  </a:t>
            </a:r>
            <a:r>
              <a:rPr b="1" sz="1050">
                <a:solidFill>
                  <a:srgbClr val="0F172A"/>
                </a:solidFill>
              </a:rPr>
              <a:t>Zero Cloud Overhead: </a:t>
            </a:r>
            <a:r>
              <a:rPr sz="1000">
                <a:solidFill>
                  <a:srgbClr val="475569"/>
                </a:solidFill>
              </a:rPr>
              <a:t>Fast atomic local reads/writes without internet.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E11D48"/>
                </a:solidFill>
              </a:rPr>
              <a:t>•  </a:t>
            </a:r>
            <a:r>
              <a:rPr b="1" sz="1050">
                <a:solidFill>
                  <a:srgbClr val="0F172A"/>
                </a:solidFill>
              </a:rPr>
              <a:t>Dual-Flavor Gradle: </a:t>
            </a:r>
            <a:r>
              <a:rPr sz="1000">
                <a:solidFill>
                  <a:srgbClr val="475569"/>
                </a:solidFill>
              </a:rPr>
              <a:t>Builds standalone Global and Testing release APKs.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E11D48"/>
                </a:solidFill>
              </a:rPr>
              <a:t>•  </a:t>
            </a:r>
            <a:r>
              <a:rPr b="1" sz="1050">
                <a:solidFill>
                  <a:srgbClr val="0F172A"/>
                </a:solidFill>
              </a:rPr>
              <a:t>Android OS Support: </a:t>
            </a:r>
            <a:r>
              <a:rPr sz="1000">
                <a:solidFill>
                  <a:srgbClr val="475569"/>
                </a:solidFill>
              </a:rPr>
              <a:t>Compatible with Android 5.0+ (API 21 to 34).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1645920" cy="256032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9144" bIns="9144"/>
          <a:lstStyle/>
          <a:p>
            <a:pPr algn="ctr">
              <a:defRPr b="1" sz="950">
                <a:solidFill>
                  <a:srgbClr val="4F46E5"/>
                </a:solidFill>
              </a:defRPr>
            </a:pPr>
            <a:r>
              <a:t>06 | SYSTEM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728655" cy="7315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b="1" sz="2200">
                <a:solidFill>
                  <a:srgbClr val="0F172A"/>
                </a:solidFill>
              </a:defRPr>
            </a:pPr>
            <a:r>
              <a:t>System Architecture &amp; Process Flow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4-Tier Layered Framework and End-to-End Learning Loop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6636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4709160" cy="4572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b="1" sz="1300">
                <a:solidFill>
                  <a:srgbClr val="4F46E5"/>
                </a:solidFill>
              </a:defRPr>
            </a:pPr>
            <a:r>
              <a:t>System Architectural Design (4 Tiers)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331720"/>
            <a:ext cx="4709160" cy="3840479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14400" y="2240280"/>
            <a:ext cx="48006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b="1" sz="1100">
                <a:solidFill>
                  <a:srgbClr val="4F46E5"/>
                </a:solidFill>
              </a:rPr>
              <a:t>Tier 1: Presentation Layer
</a:t>
            </a:r>
            <a:r>
              <a:rPr sz="1000">
                <a:solidFill>
                  <a:srgbClr val="475569"/>
                </a:solidFill>
              </a:rPr>
              <a:t>Navigation Shell, Early Learning Modules, Bedtime Stories Reader, Parent Dashboard.</a:t>
            </a:r>
          </a:p>
          <a:p>
            <a:pPr>
              <a:spcAft>
                <a:spcPts val="1200"/>
              </a:spcAft>
            </a:pPr>
            <a:r>
              <a:rPr b="1" sz="1100">
                <a:solidFill>
                  <a:srgbClr val="4F46E5"/>
                </a:solidFill>
              </a:rPr>
              <a:t>Tier 2: Business Logic &amp; State
</a:t>
            </a:r>
            <a:r>
              <a:rPr sz="1000">
                <a:solidFill>
                  <a:srgbClr val="475569"/>
                </a:solidFill>
              </a:rPr>
              <a:t>LearningProvider (curriculum state), ParentProvider (PIN &amp; screen time), GamificationEngine.</a:t>
            </a:r>
          </a:p>
          <a:p>
            <a:pPr>
              <a:spcAft>
                <a:spcPts val="1200"/>
              </a:spcAft>
            </a:pPr>
            <a:r>
              <a:rPr b="1" sz="1100">
                <a:solidFill>
                  <a:srgbClr val="4F46E5"/>
                </a:solidFill>
              </a:rPr>
              <a:t>Tier 3: Service Abstraction Layer
</a:t>
            </a:r>
            <a:r>
              <a:rPr sz="1000">
                <a:solidFill>
                  <a:srgbClr val="475569"/>
                </a:solidFill>
              </a:rPr>
              <a:t>ModularTtsService (voice personas &amp; script detection), SoundFxService (chimes), StorageService.</a:t>
            </a:r>
          </a:p>
          <a:p>
            <a:pPr>
              <a:spcAft>
                <a:spcPts val="1200"/>
              </a:spcAft>
            </a:pPr>
            <a:r>
              <a:rPr b="1" sz="1100">
                <a:solidFill>
                  <a:srgbClr val="4F46E5"/>
                </a:solidFill>
              </a:rPr>
              <a:t>Tier 4: Native Platform Layer
</a:t>
            </a:r>
            <a:r>
              <a:rPr sz="1000">
                <a:solidFill>
                  <a:srgbClr val="475569"/>
                </a:solidFill>
              </a:rPr>
              <a:t>Android OS, Native TTS Engine (Google Speech Services), Flash Storage (SharedPrefs XML).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645920"/>
            <a:ext cx="516636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828800"/>
            <a:ext cx="4709160" cy="4572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b="1" sz="1300">
                <a:solidFill>
                  <a:srgbClr val="0D9488"/>
                </a:solidFill>
              </a:defRPr>
            </a:pPr>
            <a:r>
              <a:t>Workflow &amp; Process Flow Diagram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331720"/>
            <a:ext cx="4709160" cy="3840479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000"/>
              </a:spcAft>
            </a:pPr>
            <a:r>
              <a:rPr b="1" sz="1100">
                <a:solidFill>
                  <a:srgbClr val="0D9488"/>
                </a:solidFill>
              </a:rPr>
              <a:t>•  </a:t>
            </a:r>
            <a:r>
              <a:rPr b="1" sz="1050">
                <a:solidFill>
                  <a:srgbClr val="0F172A"/>
                </a:solidFill>
              </a:rPr>
              <a:t>Step 1: Module Selection: </a:t>
            </a:r>
            <a:r>
              <a:rPr sz="1000">
                <a:solidFill>
                  <a:srgbClr val="475569"/>
                </a:solidFill>
              </a:rPr>
              <a:t>Child selects Alphabet, Numbers, Animals, or Stories from dashboard.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0D9488"/>
                </a:solidFill>
              </a:rPr>
              <a:t>•  </a:t>
            </a:r>
            <a:r>
              <a:rPr b="1" sz="1050">
                <a:solidFill>
                  <a:srgbClr val="0F172A"/>
                </a:solidFill>
              </a:rPr>
              <a:t>Step 2: Interactive Touch: </a:t>
            </a:r>
            <a:r>
              <a:rPr sz="1000">
                <a:solidFill>
                  <a:srgbClr val="475569"/>
                </a:solidFill>
              </a:rPr>
              <a:t>Child taps card; tactile chime sound effect triggers instantly.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0D9488"/>
                </a:solidFill>
              </a:rPr>
              <a:t>•  </a:t>
            </a:r>
            <a:r>
              <a:rPr b="1" sz="1050">
                <a:solidFill>
                  <a:srgbClr val="0F172A"/>
                </a:solidFill>
              </a:rPr>
              <a:t>Step 3: Speech Synthesis: </a:t>
            </a:r>
            <a:r>
              <a:rPr sz="1000">
                <a:solidFill>
                  <a:srgbClr val="475569"/>
                </a:solidFill>
              </a:rPr>
              <a:t>TTS speaks pronunciation using active companion (e.g. Sparky or Unni).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0D9488"/>
                </a:solidFill>
              </a:rPr>
              <a:t>•  </a:t>
            </a:r>
            <a:r>
              <a:rPr b="1" sz="1050">
                <a:solidFill>
                  <a:srgbClr val="0F172A"/>
                </a:solidFill>
              </a:rPr>
              <a:t>Step 4: Gamified Reward: </a:t>
            </a:r>
            <a:r>
              <a:rPr sz="1000">
                <a:solidFill>
                  <a:srgbClr val="475569"/>
                </a:solidFill>
              </a:rPr>
              <a:t>Engine awards +10 XP and +5 Coins; evaluates daily streak multiplier.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0D9488"/>
                </a:solidFill>
              </a:rPr>
              <a:t>•  </a:t>
            </a:r>
            <a:r>
              <a:rPr b="1" sz="1050">
                <a:solidFill>
                  <a:srgbClr val="0F172A"/>
                </a:solidFill>
              </a:rPr>
              <a:t>Step 5: Milestone Celebration: </a:t>
            </a:r>
            <a:r>
              <a:rPr sz="1000">
                <a:solidFill>
                  <a:srgbClr val="475569"/>
                </a:solidFill>
              </a:rPr>
              <a:t>Confetti animation pops up on leveling up; unlocks Trophy Room badge.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0D9488"/>
                </a:solidFill>
              </a:rPr>
              <a:t>•  </a:t>
            </a:r>
            <a:r>
              <a:rPr b="1" sz="1050">
                <a:solidFill>
                  <a:srgbClr val="0F172A"/>
                </a:solidFill>
              </a:rPr>
              <a:t>Step 6: Parent Gate Security: </a:t>
            </a:r>
            <a:r>
              <a:rPr sz="1000">
                <a:solidFill>
                  <a:srgbClr val="475569"/>
                </a:solidFill>
              </a:rPr>
              <a:t>PIN challenge (1234) prevents unauthorized access to parent dashboard.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1645920" cy="256032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9144" bIns="9144"/>
          <a:lstStyle/>
          <a:p>
            <a:pPr algn="ctr">
              <a:defRPr b="1" sz="950">
                <a:solidFill>
                  <a:srgbClr val="4F46E5"/>
                </a:solidFill>
              </a:defRPr>
            </a:pPr>
            <a:r>
              <a:t>06 | DFD LEVEL 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728655" cy="7315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b="1" sz="2200">
                <a:solidFill>
                  <a:srgbClr val="0F172A"/>
                </a:solidFill>
              </a:defRPr>
            </a:pPr>
            <a:r>
              <a:t>Data Flow Diagram: Level 0 (Context Level)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High-Level System Boundary &amp; Interactions with External Entities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728655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dfd_level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828800"/>
            <a:ext cx="9997135" cy="571264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1645920" cy="256032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9144" bIns="9144"/>
          <a:lstStyle/>
          <a:p>
            <a:pPr algn="ctr">
              <a:defRPr b="1" sz="950">
                <a:solidFill>
                  <a:srgbClr val="4F46E5"/>
                </a:solidFill>
              </a:defRPr>
            </a:pPr>
            <a:r>
              <a:t>06 | DFD LEVEL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728655" cy="7315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b="1" sz="2200">
                <a:solidFill>
                  <a:srgbClr val="0F172A"/>
                </a:solidFill>
              </a:defRPr>
            </a:pPr>
            <a:r>
              <a:t>Data Flow Diagram: Level 1 (Process Decomposition)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Sub-Processes, Data Stores (D1–D5), and Inter-Process Data Routing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728655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dfd_level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783080"/>
            <a:ext cx="9997135" cy="624820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1645920" cy="256032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9144" bIns="9144"/>
          <a:lstStyle/>
          <a:p>
            <a:pPr algn="ctr">
              <a:defRPr b="1" sz="950">
                <a:solidFill>
                  <a:srgbClr val="4F46E5"/>
                </a:solidFill>
              </a:defRPr>
            </a:pPr>
            <a:r>
              <a:t>07 | DATA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728655" cy="7315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b="1" sz="2200">
                <a:solidFill>
                  <a:srgbClr val="0F172A"/>
                </a:solidFill>
              </a:defRPr>
            </a:pPr>
            <a:r>
              <a:t>Dataset &amp; Database Entity Schema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Embedded NoSQL Architecture, Collections, and Attributes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28416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2871216" cy="4572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b="1" sz="1300">
                <a:solidFill>
                  <a:srgbClr val="4F46E5"/>
                </a:solidFill>
              </a:defRPr>
            </a:pPr>
            <a:r>
              <a:t>Dataset Scope &amp; Source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331720"/>
            <a:ext cx="2871216" cy="3840479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000"/>
              </a:spcAft>
            </a:pPr>
            <a:r>
              <a:rPr b="1" sz="1100">
                <a:solidFill>
                  <a:srgbClr val="4F46E5"/>
                </a:solidFill>
              </a:rPr>
              <a:t>•  </a:t>
            </a:r>
            <a:r>
              <a:rPr b="1" sz="1050">
                <a:solidFill>
                  <a:srgbClr val="0F172A"/>
                </a:solidFill>
              </a:rPr>
              <a:t>Dataset Source: </a:t>
            </a:r>
            <a:r>
              <a:rPr sz="1000">
                <a:solidFill>
                  <a:srgbClr val="475569"/>
                </a:solidFill>
              </a:rPr>
              <a:t>Curated pedagogical phonics, numbering assets, animal vocatives, and folklore.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4F46E5"/>
                </a:solidFill>
              </a:rPr>
              <a:t>•  </a:t>
            </a:r>
            <a:r>
              <a:rPr b="1" sz="1050">
                <a:solidFill>
                  <a:srgbClr val="0F172A"/>
                </a:solidFill>
              </a:rPr>
              <a:t>Dataset Scale: </a:t>
            </a:r>
            <a:r>
              <a:rPr sz="1000">
                <a:solidFill>
                  <a:srgbClr val="475569"/>
                </a:solidFill>
              </a:rPr>
              <a:t>26 Alphabet phonics, 20 Numbers, 12 Animals, 12 Fruits/Veggies, 12 Bedtime Stories.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4F46E5"/>
                </a:solidFill>
              </a:rPr>
              <a:t>•  </a:t>
            </a:r>
            <a:r>
              <a:rPr b="1" sz="1050">
                <a:solidFill>
                  <a:srgbClr val="0F172A"/>
                </a:solidFill>
              </a:rPr>
              <a:t>Story Content: </a:t>
            </a:r>
            <a:r>
              <a:rPr sz="1000">
                <a:solidFill>
                  <a:srgbClr val="475569"/>
                </a:solidFill>
              </a:rPr>
              <a:t>6 English classic fables + 6 authentic Malayalam moral folklore stories.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4F46E5"/>
                </a:solidFill>
              </a:rPr>
              <a:t>•  </a:t>
            </a:r>
            <a:r>
              <a:rPr b="1" sz="1050">
                <a:solidFill>
                  <a:srgbClr val="0F172A"/>
                </a:solidFill>
              </a:rPr>
              <a:t>Voice Persona Catalog: </a:t>
            </a:r>
            <a:r>
              <a:rPr sz="1000">
                <a:solidFill>
                  <a:srgbClr val="475569"/>
                </a:solidFill>
              </a:rPr>
              <a:t>9 distinct acoustic profiles with pitch, rate, and preview phrases.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25696" y="1645920"/>
            <a:ext cx="3328416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54296" y="1828800"/>
            <a:ext cx="2871216" cy="4572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b="1" sz="1300">
                <a:solidFill>
                  <a:srgbClr val="D97706"/>
                </a:solidFill>
              </a:defRPr>
            </a:pPr>
            <a:r>
              <a:t>Database Architecture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54296" y="2331720"/>
            <a:ext cx="2871216" cy="3840479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000"/>
              </a:spcAft>
            </a:pPr>
            <a:r>
              <a:rPr b="1" sz="1100">
                <a:solidFill>
                  <a:srgbClr val="D97706"/>
                </a:solidFill>
              </a:rPr>
              <a:t>•  </a:t>
            </a:r>
            <a:r>
              <a:rPr b="1" sz="1050">
                <a:solidFill>
                  <a:srgbClr val="0F172A"/>
                </a:solidFill>
              </a:rPr>
              <a:t>Database Engine: </a:t>
            </a:r>
            <a:r>
              <a:rPr sz="1000">
                <a:solidFill>
                  <a:srgbClr val="475569"/>
                </a:solidFill>
              </a:rPr>
              <a:t>Embedded lightweight NoSQL key-value store via SharedPreferences.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D97706"/>
                </a:solidFill>
              </a:rPr>
              <a:t>•  </a:t>
            </a:r>
            <a:r>
              <a:rPr b="1" sz="1050">
                <a:solidFill>
                  <a:srgbClr val="0F172A"/>
                </a:solidFill>
              </a:rPr>
              <a:t>Zero Cloud Overhead: </a:t>
            </a:r>
            <a:r>
              <a:rPr sz="1000">
                <a:solidFill>
                  <a:srgbClr val="475569"/>
                </a:solidFill>
              </a:rPr>
              <a:t>Fast local reads/writes with zero cloud sync delays or costs.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D97706"/>
                </a:solidFill>
              </a:rPr>
              <a:t>•  </a:t>
            </a:r>
            <a:r>
              <a:rPr b="1" sz="1050">
                <a:solidFill>
                  <a:srgbClr val="0F172A"/>
                </a:solidFill>
              </a:rPr>
              <a:t>Persistence Guarantees: </a:t>
            </a:r>
            <a:r>
              <a:rPr sz="1000">
                <a:solidFill>
                  <a:srgbClr val="475569"/>
                </a:solidFill>
              </a:rPr>
              <a:t>Auto-saves child level, coins, completed lessons, and parent PIN.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D97706"/>
                </a:solidFill>
              </a:rPr>
              <a:t>•  </a:t>
            </a:r>
            <a:r>
              <a:rPr b="1" sz="1050">
                <a:solidFill>
                  <a:srgbClr val="0F172A"/>
                </a:solidFill>
              </a:rPr>
              <a:t>Data Privacy: </a:t>
            </a:r>
            <a:r>
              <a:rPr sz="1000">
                <a:solidFill>
                  <a:srgbClr val="475569"/>
                </a:solidFill>
              </a:rPr>
              <a:t>100% stored on-device; no data leaves the physical handset.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19872" y="1645920"/>
            <a:ext cx="3328416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48472" y="1828800"/>
            <a:ext cx="2871216" cy="4572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b="1" sz="1300">
                <a:solidFill>
                  <a:srgbClr val="0D9488"/>
                </a:solidFill>
              </a:defRPr>
            </a:pPr>
            <a:r>
              <a:t>Entities &amp; Purpose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48472" y="2331720"/>
            <a:ext cx="2871216" cy="3840479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000"/>
              </a:spcAft>
            </a:pPr>
            <a:r>
              <a:rPr b="1" sz="1100">
                <a:solidFill>
                  <a:srgbClr val="0D9488"/>
                </a:solidFill>
              </a:rPr>
              <a:t>•  </a:t>
            </a:r>
            <a:r>
              <a:rPr b="1" sz="1050">
                <a:solidFill>
                  <a:srgbClr val="0F172A"/>
                </a:solidFill>
              </a:rPr>
              <a:t>LearningModule Model: </a:t>
            </a:r>
            <a:r>
              <a:rPr sz="1000">
                <a:solidFill>
                  <a:srgbClr val="475569"/>
                </a:solidFill>
              </a:rPr>
              <a:t>id, title, category, progress (0.0–1.0), isCompleted, isEnabled.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0D9488"/>
                </a:solidFill>
              </a:rPr>
              <a:t>•  </a:t>
            </a:r>
            <a:r>
              <a:rPr b="1" sz="1050">
                <a:solidFill>
                  <a:srgbClr val="0F172A"/>
                </a:solidFill>
              </a:rPr>
              <a:t>VoicePersona Model: </a:t>
            </a:r>
            <a:r>
              <a:rPr sz="1000">
                <a:solidFill>
                  <a:srgbClr val="475569"/>
                </a:solidFill>
              </a:rPr>
              <a:t>id, name, avatarEmoji, pitch (0.92–1.34), speechRate, languageCode.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0D9488"/>
                </a:solidFill>
              </a:rPr>
              <a:t>•  </a:t>
            </a:r>
            <a:r>
              <a:rPr b="1" sz="1050">
                <a:solidFill>
                  <a:srgbClr val="0F172A"/>
                </a:solidFill>
              </a:rPr>
              <a:t>StoryItem Model: </a:t>
            </a:r>
            <a:r>
              <a:rPr sz="1000">
                <a:solidFill>
                  <a:srgbClr val="475569"/>
                </a:solidFill>
              </a:rPr>
              <a:t>title, emoji, moral, duration, paragraphs, language ('en' | 'ml').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0D9488"/>
                </a:solidFill>
              </a:rPr>
              <a:t>•  </a:t>
            </a:r>
            <a:r>
              <a:rPr b="1" sz="1050">
                <a:solidFill>
                  <a:srgbClr val="0F172A"/>
                </a:solidFill>
              </a:rPr>
              <a:t>ParentSettings &amp; Profile: </a:t>
            </a:r>
            <a:r>
              <a:rPr sz="1000">
                <a:solidFill>
                  <a:srgbClr val="475569"/>
                </a:solidFill>
              </a:rPr>
              <a:t>parentPin, dailyTimeLimitMinutes, todayScreenTime, totalXp, coins, streak.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1645920" cy="256032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9144" bIns="9144"/>
          <a:lstStyle/>
          <a:p>
            <a:pPr algn="ctr">
              <a:defRPr b="1" sz="950">
                <a:solidFill>
                  <a:srgbClr val="4F46E5"/>
                </a:solidFill>
              </a:defRPr>
            </a:pPr>
            <a:r>
              <a:t>08 | 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728655" cy="7315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b="1" sz="2200">
                <a:solidFill>
                  <a:srgbClr val="0F172A"/>
                </a:solidFill>
              </a:defRPr>
            </a:pPr>
            <a:r>
              <a:t>Proposed Method, Algorithms &amp; Modules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Core Functional Modules and Real-Time Execution Algorithms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28416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2871216" cy="4572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b="1" sz="1300">
                <a:solidFill>
                  <a:srgbClr val="4F46E5"/>
                </a:solidFill>
              </a:defRPr>
            </a:pPr>
            <a:r>
              <a:t>Major Modules &amp; Functions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331720"/>
            <a:ext cx="2871216" cy="3840479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000"/>
              </a:spcAft>
            </a:pPr>
            <a:r>
              <a:rPr b="1" sz="1100">
                <a:solidFill>
                  <a:srgbClr val="4F46E5"/>
                </a:solidFill>
              </a:rPr>
              <a:t>•  </a:t>
            </a:r>
            <a:r>
              <a:rPr b="1" sz="1050">
                <a:solidFill>
                  <a:srgbClr val="0F172A"/>
                </a:solidFill>
              </a:rPr>
              <a:t>Early Learning Suite: </a:t>
            </a:r>
            <a:r>
              <a:rPr sz="1000">
                <a:solidFill>
                  <a:srgbClr val="475569"/>
                </a:solidFill>
              </a:rPr>
              <a:t>Alphabet phonics, Number counting 1–20, Colors &amp; Shapes Studio.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4F46E5"/>
                </a:solidFill>
              </a:rPr>
              <a:t>•  </a:t>
            </a:r>
            <a:r>
              <a:rPr b="1" sz="1050">
                <a:solidFill>
                  <a:srgbClr val="0F172A"/>
                </a:solidFill>
              </a:rPr>
              <a:t>Media &amp; Culture Hub: </a:t>
            </a:r>
            <a:r>
              <a:rPr sz="1000">
                <a:solidFill>
                  <a:srgbClr val="475569"/>
                </a:solidFill>
              </a:rPr>
              <a:t>Wildlife Safari, Fruits &amp; Veggies, Musical Fun Rhymes player.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4F46E5"/>
                </a:solidFill>
              </a:rPr>
              <a:t>•  </a:t>
            </a:r>
            <a:r>
              <a:rPr b="1" sz="1050">
                <a:solidFill>
                  <a:srgbClr val="0F172A"/>
                </a:solidFill>
              </a:rPr>
              <a:t>Bedtime Stories Reader: </a:t>
            </a:r>
            <a:r>
              <a:rPr sz="1000">
                <a:solidFill>
                  <a:srgbClr val="475569"/>
                </a:solidFill>
              </a:rPr>
              <a:t>12 moral stories with 1-tap language filtering and 'Read to Me 🔊'.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4F46E5"/>
                </a:solidFill>
              </a:rPr>
              <a:t>•  </a:t>
            </a:r>
            <a:r>
              <a:rPr b="1" sz="1050">
                <a:solidFill>
                  <a:srgbClr val="0F172A"/>
                </a:solidFill>
              </a:rPr>
              <a:t>Parental Control Shield: </a:t>
            </a:r>
            <a:r>
              <a:rPr sz="1000">
                <a:solidFill>
                  <a:srgbClr val="475569"/>
                </a:solidFill>
              </a:rPr>
              <a:t>PIN gate, screen-time limiter (15–60 min), and subject toggles.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25696" y="1645920"/>
            <a:ext cx="3328416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54296" y="1828800"/>
            <a:ext cx="2871216" cy="4572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b="1" sz="1300">
                <a:solidFill>
                  <a:srgbClr val="0D9488"/>
                </a:solidFill>
              </a:defRPr>
            </a:pPr>
            <a:r>
              <a:t>Algorithm 1: Script-Aware TTS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54296" y="2331720"/>
            <a:ext cx="2871216" cy="3840479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000"/>
              </a:spcAft>
            </a:pPr>
            <a:r>
              <a:rPr b="1" sz="1100">
                <a:solidFill>
                  <a:srgbClr val="0D9488"/>
                </a:solidFill>
              </a:rPr>
              <a:t>•  </a:t>
            </a:r>
            <a:r>
              <a:rPr b="1" sz="1050">
                <a:solidFill>
                  <a:srgbClr val="0F172A"/>
                </a:solidFill>
              </a:rPr>
              <a:t>Step 1 (Input): </a:t>
            </a:r>
            <a:r>
              <a:rPr sz="1000">
                <a:solidFill>
                  <a:srgbClr val="475569"/>
                </a:solidFill>
              </a:rPr>
              <a:t>Ingest text payload into ModularTtsService.speak(text).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0D9488"/>
                </a:solidFill>
              </a:rPr>
              <a:t>•  </a:t>
            </a:r>
            <a:r>
              <a:rPr b="1" sz="1050">
                <a:solidFill>
                  <a:srgbClr val="0F172A"/>
                </a:solidFill>
              </a:rPr>
              <a:t>Step 2 (Regex Match): </a:t>
            </a:r>
            <a:r>
              <a:rPr sz="1000">
                <a:solidFill>
                  <a:srgbClr val="475569"/>
                </a:solidFill>
              </a:rPr>
              <a:t>Inspect text for Malayalam unicode range [\u0D00-\u0D7F].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0D9488"/>
                </a:solidFill>
              </a:rPr>
              <a:t>•  </a:t>
            </a:r>
            <a:r>
              <a:rPr b="1" sz="1050">
                <a:solidFill>
                  <a:srgbClr val="0F172A"/>
                </a:solidFill>
              </a:rPr>
              <a:t>Step 3 (Branch A): </a:t>
            </a:r>
            <a:r>
              <a:rPr sz="1000">
                <a:solidFill>
                  <a:srgbClr val="475569"/>
                </a:solidFill>
              </a:rPr>
              <a:t>If Malayalam, set language to 'ml-IN', pitch to 1.24, rate to 0.42.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0D9488"/>
                </a:solidFill>
              </a:rPr>
              <a:t>•  </a:t>
            </a:r>
            <a:r>
              <a:rPr b="1" sz="1050">
                <a:solidFill>
                  <a:srgbClr val="0F172A"/>
                </a:solidFill>
              </a:rPr>
              <a:t>Step 4 (Branch B): </a:t>
            </a:r>
            <a:r>
              <a:rPr sz="1000">
                <a:solidFill>
                  <a:srgbClr val="475569"/>
                </a:solidFill>
              </a:rPr>
              <a:t>If English, apply selected companion (e.g. Sparky pitch=1.34).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0D9488"/>
                </a:solidFill>
              </a:rPr>
              <a:t>•  </a:t>
            </a:r>
            <a:r>
              <a:rPr b="1" sz="1050">
                <a:solidFill>
                  <a:srgbClr val="0F172A"/>
                </a:solidFill>
              </a:rPr>
              <a:t>Step 5 (Restore): </a:t>
            </a:r>
            <a:r>
              <a:rPr sz="1000">
                <a:solidFill>
                  <a:srgbClr val="475569"/>
                </a:solidFill>
              </a:rPr>
              <a:t>Restore active companion profile immediately after utterance.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19872" y="1645920"/>
            <a:ext cx="3328416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48472" y="1828800"/>
            <a:ext cx="2871216" cy="4572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b="1" sz="1300">
                <a:solidFill>
                  <a:srgbClr val="D97706"/>
                </a:solidFill>
              </a:defRPr>
            </a:pPr>
            <a:r>
              <a:t>Algorithm 2: Gamification Engine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48472" y="2331720"/>
            <a:ext cx="2871216" cy="3840479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000"/>
              </a:spcAft>
            </a:pPr>
            <a:r>
              <a:rPr b="1" sz="1100">
                <a:solidFill>
                  <a:srgbClr val="D97706"/>
                </a:solidFill>
              </a:rPr>
              <a:t>•  </a:t>
            </a:r>
            <a:r>
              <a:rPr b="1" sz="1050">
                <a:solidFill>
                  <a:srgbClr val="0F172A"/>
                </a:solidFill>
              </a:rPr>
              <a:t>Step 1 (Base Reward): </a:t>
            </a:r>
            <a:r>
              <a:rPr sz="1000">
                <a:solidFill>
                  <a:srgbClr val="475569"/>
                </a:solidFill>
              </a:rPr>
              <a:t>Award +10 XP and +5 Coins on each module activity completion.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D97706"/>
                </a:solidFill>
              </a:rPr>
              <a:t>•  </a:t>
            </a:r>
            <a:r>
              <a:rPr b="1" sz="1050">
                <a:solidFill>
                  <a:srgbClr val="0F172A"/>
                </a:solidFill>
              </a:rPr>
              <a:t>Step 2 (Streak Multiplier): </a:t>
            </a:r>
            <a:r>
              <a:rPr sz="1000">
                <a:solidFill>
                  <a:srgbClr val="475569"/>
                </a:solidFill>
              </a:rPr>
              <a:t>Apply multiplier: min(1.0 + streakDays * 0.1, 2.0).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D97706"/>
                </a:solidFill>
              </a:rPr>
              <a:t>•  </a:t>
            </a:r>
            <a:r>
              <a:rPr b="1" sz="1050">
                <a:solidFill>
                  <a:srgbClr val="0F172A"/>
                </a:solidFill>
              </a:rPr>
              <a:t>Step 3 (Level Check): </a:t>
            </a:r>
            <a:r>
              <a:rPr sz="1000">
                <a:solidFill>
                  <a:srgbClr val="475569"/>
                </a:solidFill>
              </a:rPr>
              <a:t>If totalXp &gt;= Level * 100, trigger level-up celebration.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D97706"/>
                </a:solidFill>
              </a:rPr>
              <a:t>•  </a:t>
            </a:r>
            <a:r>
              <a:rPr b="1" sz="1050">
                <a:solidFill>
                  <a:srgbClr val="0F172A"/>
                </a:solidFill>
              </a:rPr>
              <a:t>Step 4 (Badge Evaluator): </a:t>
            </a:r>
            <a:r>
              <a:rPr sz="1000">
                <a:solidFill>
                  <a:srgbClr val="475569"/>
                </a:solidFill>
              </a:rPr>
              <a:t>Evaluate trophy criteria and unlock achievement badges.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D97706"/>
                </a:solidFill>
              </a:rPr>
              <a:t>•  </a:t>
            </a:r>
            <a:r>
              <a:rPr b="1" sz="1050">
                <a:solidFill>
                  <a:srgbClr val="0F172A"/>
                </a:solidFill>
              </a:rPr>
              <a:t>Step 5 (Persistence): </a:t>
            </a:r>
            <a:r>
              <a:rPr sz="1000">
                <a:solidFill>
                  <a:srgbClr val="475569"/>
                </a:solidFill>
              </a:rPr>
              <a:t>Commit updated stats to local SharedPreferences.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1645920" cy="256032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9144" bIns="9144"/>
          <a:lstStyle/>
          <a:p>
            <a:pPr algn="ctr">
              <a:defRPr b="1" sz="950">
                <a:solidFill>
                  <a:srgbClr val="4F46E5"/>
                </a:solidFill>
              </a:defRPr>
            </a:pPr>
            <a:r>
              <a:t>09 |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728655" cy="7315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b="1" sz="2200">
                <a:solidFill>
                  <a:srgbClr val="0F172A"/>
                </a:solidFill>
              </a:defRPr>
            </a:pPr>
            <a:r>
              <a:t>Results, Performance &amp; UI Showcase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Verification Metrics, Automated Test Results, and Important UI Screens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6636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4709160" cy="4572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b="1" sz="1300">
                <a:solidFill>
                  <a:srgbClr val="4F46E5"/>
                </a:solidFill>
              </a:defRPr>
            </a:pPr>
            <a:r>
              <a:t>Implementation &amp; Quality Results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331720"/>
            <a:ext cx="4709160" cy="3840479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000"/>
              </a:spcAft>
            </a:pPr>
            <a:r>
              <a:rPr b="1" sz="1100">
                <a:solidFill>
                  <a:srgbClr val="4F46E5"/>
                </a:solidFill>
              </a:rPr>
              <a:t>•  </a:t>
            </a:r>
            <a:r>
              <a:rPr b="1" sz="1050">
                <a:solidFill>
                  <a:srgbClr val="0F172A"/>
                </a:solidFill>
              </a:rPr>
              <a:t>Automated Test Suite: </a:t>
            </a:r>
            <a:r>
              <a:rPr sz="1000">
                <a:solidFill>
                  <a:srgbClr val="475569"/>
                </a:solidFill>
              </a:rPr>
              <a:t>55/55 tests passed cleanly (100% pass rate) across all modules.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4F46E5"/>
                </a:solidFill>
              </a:rPr>
              <a:t>•  </a:t>
            </a:r>
            <a:r>
              <a:rPr b="1" sz="1050">
                <a:solidFill>
                  <a:srgbClr val="0F172A"/>
                </a:solidFill>
              </a:rPr>
              <a:t>Rendering Performance: </a:t>
            </a:r>
            <a:r>
              <a:rPr sz="1000">
                <a:solidFill>
                  <a:srgbClr val="475569"/>
                </a:solidFill>
              </a:rPr>
              <a:t>Smooth 60–120 FPS execution with zero dropped frames or janks.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4F46E5"/>
                </a:solidFill>
              </a:rPr>
              <a:t>•  </a:t>
            </a:r>
            <a:r>
              <a:rPr b="1" sz="1050">
                <a:solidFill>
                  <a:srgbClr val="0F172A"/>
                </a:solidFill>
              </a:rPr>
              <a:t>Audio Latency: </a:t>
            </a:r>
            <a:r>
              <a:rPr sz="1000">
                <a:solidFill>
                  <a:srgbClr val="475569"/>
                </a:solidFill>
              </a:rPr>
              <a:t>Sub-50ms trigger response on tactile card clicks and speech synthesis.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4F46E5"/>
                </a:solidFill>
              </a:rPr>
              <a:t>•  </a:t>
            </a:r>
            <a:r>
              <a:rPr b="1" sz="1050">
                <a:solidFill>
                  <a:srgbClr val="0F172A"/>
                </a:solidFill>
              </a:rPr>
              <a:t>Package Footprint: </a:t>
            </a:r>
            <a:r>
              <a:rPr sz="1000">
                <a:solidFill>
                  <a:srgbClr val="475569"/>
                </a:solidFill>
              </a:rPr>
              <a:t>54.89 MB standalone APK with zero external asset streaming dependencies.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4F46E5"/>
                </a:solidFill>
              </a:rPr>
              <a:t>•  </a:t>
            </a:r>
            <a:r>
              <a:rPr b="1" sz="1050">
                <a:solidFill>
                  <a:srgbClr val="0F172A"/>
                </a:solidFill>
              </a:rPr>
              <a:t>Offline Stability: </a:t>
            </a:r>
            <a:r>
              <a:rPr sz="1000">
                <a:solidFill>
                  <a:srgbClr val="475569"/>
                </a:solidFill>
              </a:rPr>
              <a:t>100% of modules, audio voices, and stories operational in airplane mode.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645920"/>
            <a:ext cx="516636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828800"/>
            <a:ext cx="4709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0D9488"/>
                </a:solidFill>
              </a:defRPr>
            </a:pPr>
            <a:r>
              <a:t>Important UI Screens &amp; Implementation</a:t>
            </a:r>
          </a:p>
        </p:txBody>
      </p:sp>
      <p:pic>
        <p:nvPicPr>
          <p:cNvPr id="10" name="Picture 9" descr="design_referenc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2331720"/>
            <a:ext cx="2331720" cy="3500999"/>
          </a:xfrm>
          <a:prstGeom prst="rect">
            <a:avLst/>
          </a:prstGeom>
        </p:spPr>
      </p:pic>
      <p:pic>
        <p:nvPicPr>
          <p:cNvPr id="11" name="Picture 10" descr="splash_game_b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0" y="2331720"/>
            <a:ext cx="2331720" cy="417766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492240" y="5760720"/>
            <a:ext cx="4709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>
                <a:solidFill>
                  <a:srgbClr val="475569"/>
                </a:solidFill>
              </a:defRPr>
            </a:pPr>
            <a:r>
              <a:t>Visual UI Showcase: Learning Path, Story Reader &amp; Splash Animation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1645920" cy="256032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9144" bIns="9144"/>
          <a:lstStyle/>
          <a:p>
            <a:pPr algn="ctr">
              <a:defRPr b="1" sz="950">
                <a:solidFill>
                  <a:srgbClr val="4F46E5"/>
                </a:solidFill>
              </a:defRPr>
            </a:pPr>
            <a:r>
              <a:t>10 |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728655" cy="7315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b="1" sz="2200">
                <a:solidFill>
                  <a:srgbClr val="0F172A"/>
                </a:solidFill>
              </a:defRPr>
            </a:pPr>
            <a:r>
              <a:t>Conclusion &amp; Future Enhancements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Project Summary, Completed Outcomes, and Technical Roadmap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28416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2871216" cy="4572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b="1" sz="1300">
                <a:solidFill>
                  <a:srgbClr val="4F46E5"/>
                </a:solidFill>
              </a:defRPr>
            </a:pPr>
            <a:r>
              <a:t>Summary of Work Completed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331720"/>
            <a:ext cx="2871216" cy="3840479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000"/>
              </a:spcAft>
            </a:pPr>
            <a:r>
              <a:rPr b="1" sz="1100">
                <a:solidFill>
                  <a:srgbClr val="4F46E5"/>
                </a:solidFill>
              </a:rPr>
              <a:t>•  </a:t>
            </a:r>
            <a:r>
              <a:rPr b="1" sz="1050">
                <a:solidFill>
                  <a:srgbClr val="0F172A"/>
                </a:solidFill>
              </a:rPr>
              <a:t>Interactive Preschool Platform: </a:t>
            </a:r>
            <a:r>
              <a:rPr sz="1000">
                <a:solidFill>
                  <a:srgbClr val="475569"/>
                </a:solidFill>
              </a:rPr>
              <a:t>Successfully created a joyful, multi-sensory educational ecosystem.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4F46E5"/>
                </a:solidFill>
              </a:rPr>
              <a:t>•  </a:t>
            </a:r>
            <a:r>
              <a:rPr b="1" sz="1050">
                <a:solidFill>
                  <a:srgbClr val="0F172A"/>
                </a:solidFill>
              </a:rPr>
              <a:t>Multi-Companion Voice AI: </a:t>
            </a:r>
            <a:r>
              <a:rPr sz="1000">
                <a:solidFill>
                  <a:srgbClr val="475569"/>
                </a:solidFill>
              </a:rPr>
              <a:t>Replaced robotic monotone with 9 pitch-tuned child companion personas.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4F46E5"/>
                </a:solidFill>
              </a:rPr>
              <a:t>•  </a:t>
            </a:r>
            <a:r>
              <a:rPr b="1" sz="1050">
                <a:solidFill>
                  <a:srgbClr val="0F172A"/>
                </a:solidFill>
              </a:rPr>
              <a:t>Regional Heritage Preserved: </a:t>
            </a:r>
            <a:r>
              <a:rPr sz="1000">
                <a:solidFill>
                  <a:srgbClr val="475569"/>
                </a:solidFill>
              </a:rPr>
              <a:t>Integrated authentic Malayalam moral tales with clean English navigation.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4F46E5"/>
                </a:solidFill>
              </a:rPr>
              <a:t>•  </a:t>
            </a:r>
            <a:r>
              <a:rPr b="1" sz="1050">
                <a:solidFill>
                  <a:srgbClr val="0F172A"/>
                </a:solidFill>
              </a:rPr>
              <a:t>Parental Digital Well-Being: </a:t>
            </a:r>
            <a:r>
              <a:rPr sz="1000">
                <a:solidFill>
                  <a:srgbClr val="475569"/>
                </a:solidFill>
              </a:rPr>
              <a:t>Implemented PIN-restricted screen-time caps and curriculum switches.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25696" y="1645920"/>
            <a:ext cx="3328416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54296" y="1828800"/>
            <a:ext cx="2871216" cy="4572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b="1" sz="1300">
                <a:solidFill>
                  <a:srgbClr val="0D9488"/>
                </a:solidFill>
              </a:defRPr>
            </a:pPr>
            <a:r>
              <a:t>Achieved Outcomes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54296" y="2331720"/>
            <a:ext cx="2871216" cy="3840479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000"/>
              </a:spcAft>
            </a:pPr>
            <a:r>
              <a:rPr b="1" sz="1100">
                <a:solidFill>
                  <a:srgbClr val="0D9488"/>
                </a:solidFill>
              </a:rPr>
              <a:t>•  </a:t>
            </a:r>
            <a:r>
              <a:rPr b="1" sz="1050">
                <a:solidFill>
                  <a:srgbClr val="0F172A"/>
                </a:solidFill>
              </a:rPr>
              <a:t>Active Engagement Achieved: </a:t>
            </a:r>
            <a:r>
              <a:rPr sz="1000">
                <a:solidFill>
                  <a:srgbClr val="475569"/>
                </a:solidFill>
              </a:rPr>
              <a:t>Eliminated passive video consumption through interactive touch tasks.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0D9488"/>
                </a:solidFill>
              </a:rPr>
              <a:t>•  </a:t>
            </a:r>
            <a:r>
              <a:rPr b="1" sz="1050">
                <a:solidFill>
                  <a:srgbClr val="0F172A"/>
                </a:solidFill>
              </a:rPr>
              <a:t>Zero Ad Intrusions: </a:t>
            </a:r>
            <a:r>
              <a:rPr sz="1000">
                <a:solidFill>
                  <a:srgbClr val="475569"/>
                </a:solidFill>
              </a:rPr>
              <a:t>100% ad-free, secure, and privacy-first environment for children.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0D9488"/>
                </a:solidFill>
              </a:rPr>
              <a:t>•  </a:t>
            </a:r>
            <a:r>
              <a:rPr b="1" sz="1050">
                <a:solidFill>
                  <a:srgbClr val="0F172A"/>
                </a:solidFill>
              </a:rPr>
              <a:t>Zero Internet Dependency: </a:t>
            </a:r>
            <a:r>
              <a:rPr sz="1000">
                <a:solidFill>
                  <a:srgbClr val="475569"/>
                </a:solidFill>
              </a:rPr>
              <a:t>Completely self-contained 54.89 MB APK running offline.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0D9488"/>
                </a:solidFill>
              </a:rPr>
              <a:t>•  </a:t>
            </a:r>
            <a:r>
              <a:rPr b="1" sz="1050">
                <a:solidFill>
                  <a:srgbClr val="0F172A"/>
                </a:solidFill>
              </a:rPr>
              <a:t>100% Verified Quality: </a:t>
            </a:r>
            <a:r>
              <a:rPr sz="1000">
                <a:solidFill>
                  <a:srgbClr val="475569"/>
                </a:solidFill>
              </a:rPr>
              <a:t>All 55 automated unit/widget tests passing with zero layout overflows.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19872" y="1645920"/>
            <a:ext cx="3328416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48472" y="1828800"/>
            <a:ext cx="2871216" cy="4572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b="1" sz="1300">
                <a:solidFill>
                  <a:srgbClr val="D97706"/>
                </a:solidFill>
              </a:defRPr>
            </a:pPr>
            <a:r>
              <a:t>Future Enhancements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48472" y="2331720"/>
            <a:ext cx="2871216" cy="3840479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000"/>
              </a:spcAft>
            </a:pPr>
            <a:r>
              <a:rPr b="1" sz="1100">
                <a:solidFill>
                  <a:srgbClr val="D97706"/>
                </a:solidFill>
              </a:rPr>
              <a:t>•  </a:t>
            </a:r>
            <a:r>
              <a:rPr b="1" sz="1050">
                <a:solidFill>
                  <a:srgbClr val="0F172A"/>
                </a:solidFill>
              </a:rPr>
              <a:t>Speech Recognition (STT): </a:t>
            </a:r>
            <a:r>
              <a:rPr sz="1000">
                <a:solidFill>
                  <a:srgbClr val="475569"/>
                </a:solidFill>
              </a:rPr>
              <a:t>Introduce 'Repeat after me' microphone pronunciation assessment.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D97706"/>
                </a:solidFill>
              </a:rPr>
              <a:t>•  </a:t>
            </a:r>
            <a:r>
              <a:rPr b="1" sz="1050">
                <a:solidFill>
                  <a:srgbClr val="0F172A"/>
                </a:solidFill>
              </a:rPr>
              <a:t>Adaptive AI Learning Paths: </a:t>
            </a:r>
            <a:r>
              <a:rPr sz="1000">
                <a:solidFill>
                  <a:srgbClr val="475569"/>
                </a:solidFill>
              </a:rPr>
              <a:t>Dynamic question difficulty scaling based on individual error rates.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D97706"/>
                </a:solidFill>
              </a:rPr>
              <a:t>•  </a:t>
            </a:r>
            <a:r>
              <a:rPr b="1" sz="1050">
                <a:solidFill>
                  <a:srgbClr val="0F172A"/>
                </a:solidFill>
              </a:rPr>
              <a:t>More Regional Languages: </a:t>
            </a:r>
            <a:r>
              <a:rPr sz="1000">
                <a:solidFill>
                  <a:srgbClr val="475569"/>
                </a:solidFill>
              </a:rPr>
              <a:t>Expand storytelling and voice models to Tamil, Telugu, Kannada, Hindi.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D97706"/>
                </a:solidFill>
              </a:rPr>
              <a:t>•  </a:t>
            </a:r>
            <a:r>
              <a:rPr b="1" sz="1050">
                <a:solidFill>
                  <a:srgbClr val="0F172A"/>
                </a:solidFill>
              </a:rPr>
              <a:t>Augmented Reality (AR): </a:t>
            </a:r>
            <a:r>
              <a:rPr sz="1000">
                <a:solidFill>
                  <a:srgbClr val="475569"/>
                </a:solidFill>
              </a:rPr>
              <a:t>Interactive 3D animal models and shapes projected in physical rooms.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1645920" cy="256032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9144" bIns="9144"/>
          <a:lstStyle/>
          <a:p>
            <a:pPr algn="ctr">
              <a:defRPr b="1" sz="950">
                <a:solidFill>
                  <a:srgbClr val="4F46E5"/>
                </a:solidFill>
              </a:defRPr>
            </a:pPr>
            <a:r>
              <a:t>11 | 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728655" cy="7315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b="1" sz="2200">
                <a:solidFill>
                  <a:srgbClr val="0F172A"/>
                </a:solidFill>
              </a:defRPr>
            </a:pPr>
            <a:r>
              <a:t>Academic References &amp; Documentation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Scholarly Literature, Pedagogical Studies, and Technical Standards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28416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2871216" cy="4572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b="1" sz="1300">
                <a:solidFill>
                  <a:srgbClr val="4F46E5"/>
                </a:solidFill>
              </a:defRPr>
            </a:pPr>
            <a:r>
              <a:t>Research Papers &amp; Pedagogy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331720"/>
            <a:ext cx="2871216" cy="3840479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000"/>
              </a:spcAft>
            </a:pPr>
            <a:r>
              <a:rPr b="1" sz="1100">
                <a:solidFill>
                  <a:srgbClr val="4F46E5"/>
                </a:solidFill>
              </a:rPr>
              <a:t>•  </a:t>
            </a:r>
            <a:r>
              <a:rPr b="1" sz="1050">
                <a:solidFill>
                  <a:srgbClr val="0F172A"/>
                </a:solidFill>
              </a:rPr>
              <a:t>Papert &amp; Harel (1991): </a:t>
            </a:r>
            <a:r>
              <a:rPr sz="1000">
                <a:solidFill>
                  <a:srgbClr val="475569"/>
                </a:solidFill>
              </a:rPr>
              <a:t>Constructionism. Ablex Publishing Corporation. (Active child learning).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4F46E5"/>
                </a:solidFill>
              </a:rPr>
              <a:t>•  </a:t>
            </a:r>
            <a:r>
              <a:rPr b="1" sz="1050">
                <a:solidFill>
                  <a:srgbClr val="0F172A"/>
                </a:solidFill>
              </a:rPr>
              <a:t>Resnick, M. (2007): </a:t>
            </a:r>
            <a:r>
              <a:rPr sz="1000">
                <a:solidFill>
                  <a:srgbClr val="475569"/>
                </a:solidFill>
              </a:rPr>
              <a:t>All I Really Need to Know (Kindergarten Expanded). ACM Creativity &amp; Cognition.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4F46E5"/>
                </a:solidFill>
              </a:rPr>
              <a:t>•  </a:t>
            </a:r>
            <a:r>
              <a:rPr b="1" sz="1050">
                <a:solidFill>
                  <a:srgbClr val="0F172A"/>
                </a:solidFill>
              </a:rPr>
              <a:t>Kuhl, P. K. (2018): </a:t>
            </a:r>
            <a:r>
              <a:rPr sz="1000">
                <a:solidFill>
                  <a:srgbClr val="475569"/>
                </a:solidFill>
              </a:rPr>
              <a:t>Early Language Learning &amp; Neuroscience. Mind, Brain &amp; Education, 12(3).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4F46E5"/>
                </a:solidFill>
              </a:rPr>
              <a:t>•  </a:t>
            </a:r>
            <a:r>
              <a:rPr b="1" sz="1050">
                <a:solidFill>
                  <a:srgbClr val="0F172A"/>
                </a:solidFill>
              </a:rPr>
              <a:t>UNESCO Report (2022): </a:t>
            </a:r>
            <a:r>
              <a:rPr sz="1000">
                <a:solidFill>
                  <a:srgbClr val="475569"/>
                </a:solidFill>
              </a:rPr>
              <a:t>Born to Learn: Spotlight on Mother-Tongue Primary Education in South Asia.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25696" y="1645920"/>
            <a:ext cx="3328416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54296" y="1828800"/>
            <a:ext cx="2871216" cy="4572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b="1" sz="1300">
                <a:solidFill>
                  <a:srgbClr val="0D9488"/>
                </a:solidFill>
              </a:defRPr>
            </a:pPr>
            <a:r>
              <a:t>EdTech &amp; Gamification Books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54296" y="2331720"/>
            <a:ext cx="2871216" cy="3840479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000"/>
              </a:spcAft>
            </a:pPr>
            <a:r>
              <a:rPr b="1" sz="1100">
                <a:solidFill>
                  <a:srgbClr val="0D9488"/>
                </a:solidFill>
              </a:rPr>
              <a:t>•  </a:t>
            </a:r>
            <a:r>
              <a:rPr b="1" sz="1050">
                <a:solidFill>
                  <a:srgbClr val="0F172A"/>
                </a:solidFill>
              </a:rPr>
              <a:t>Deterding et al. (2011): </a:t>
            </a:r>
            <a:r>
              <a:rPr sz="1000">
                <a:solidFill>
                  <a:srgbClr val="475569"/>
                </a:solidFill>
              </a:rPr>
              <a:t>From Game Design Elements to Gamefulness. MindTrek Conference, ACM.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0D9488"/>
                </a:solidFill>
              </a:rPr>
              <a:t>•  </a:t>
            </a:r>
            <a:r>
              <a:rPr b="1" sz="1050">
                <a:solidFill>
                  <a:srgbClr val="0F172A"/>
                </a:solidFill>
              </a:rPr>
              <a:t>Gee, J. P. (2003): </a:t>
            </a:r>
            <a:r>
              <a:rPr sz="1000">
                <a:solidFill>
                  <a:srgbClr val="475569"/>
                </a:solidFill>
              </a:rPr>
              <a:t>What Video Games Have to Teach Us About Learning and Literacy. Palgrave.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0D9488"/>
                </a:solidFill>
              </a:rPr>
              <a:t>•  </a:t>
            </a:r>
            <a:r>
              <a:rPr b="1" sz="1050">
                <a:solidFill>
                  <a:srgbClr val="0F172A"/>
                </a:solidFill>
              </a:rPr>
              <a:t>Hirsh-Pasek et al. (2015): </a:t>
            </a:r>
            <a:r>
              <a:rPr sz="1000">
                <a:solidFill>
                  <a:srgbClr val="475569"/>
                </a:solidFill>
              </a:rPr>
              <a:t>Putting Education in 'Educational' Apps: Psychological Science Public Interest.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19872" y="1645920"/>
            <a:ext cx="3328416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48472" y="1828800"/>
            <a:ext cx="2871216" cy="4572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b="1" sz="1300">
                <a:solidFill>
                  <a:srgbClr val="D97706"/>
                </a:solidFill>
              </a:defRPr>
            </a:pPr>
            <a:r>
              <a:t>Technical Documentation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48472" y="2331720"/>
            <a:ext cx="2871216" cy="3840479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000"/>
              </a:spcAft>
            </a:pPr>
            <a:r>
              <a:rPr b="1" sz="1100">
                <a:solidFill>
                  <a:srgbClr val="D97706"/>
                </a:solidFill>
              </a:rPr>
              <a:t>•  </a:t>
            </a:r>
            <a:r>
              <a:rPr b="1" sz="1050">
                <a:solidFill>
                  <a:srgbClr val="0F172A"/>
                </a:solidFill>
              </a:rPr>
              <a:t>Google Flutter Dev (2024): </a:t>
            </a:r>
            <a:r>
              <a:rPr sz="1000">
                <a:solidFill>
                  <a:srgbClr val="475569"/>
                </a:solidFill>
              </a:rPr>
              <a:t>Flutter Architectural Overview &amp; Compilation Docs (https://docs.flutter.dev).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D97706"/>
                </a:solidFill>
              </a:rPr>
              <a:t>•  </a:t>
            </a:r>
            <a:r>
              <a:rPr b="1" sz="1050">
                <a:solidFill>
                  <a:srgbClr val="0F172A"/>
                </a:solidFill>
              </a:rPr>
              <a:t>Android Open Source (2024): </a:t>
            </a:r>
            <a:r>
              <a:rPr sz="1000">
                <a:solidFill>
                  <a:srgbClr val="475569"/>
                </a:solidFill>
              </a:rPr>
              <a:t>Android TextToSpeech API Specification (developer.android.com).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D97706"/>
                </a:solidFill>
              </a:rPr>
              <a:t>•  </a:t>
            </a:r>
            <a:r>
              <a:rPr b="1" sz="1050">
                <a:solidFill>
                  <a:srgbClr val="0F172A"/>
                </a:solidFill>
              </a:rPr>
              <a:t>Unicode Consortium (2024): </a:t>
            </a:r>
            <a:r>
              <a:rPr sz="1000">
                <a:solidFill>
                  <a:srgbClr val="475569"/>
                </a:solidFill>
              </a:rPr>
              <a:t>Malayalam Unicode Script Block Chart 0D00–0D7F (unicode.org).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