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7772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000">
                <a:solidFill>
                  <a:srgbClr val="4F46E5"/>
                </a:solidFill>
              </a:defRPr>
            </a:pPr>
            <a:r>
              <a:t>PROJECT PRESENTATION  |  EDTECH &amp; HUMANIZED AI</a:t>
            </a:r>
          </a:p>
          <a:p>
            <a:pPr>
              <a:spcAft>
                <a:spcPts val="400"/>
              </a:spcAft>
              <a:defRPr b="1" sz="4400">
                <a:solidFill>
                  <a:srgbClr val="0F172A"/>
                </a:solidFill>
              </a:defRPr>
            </a:pPr>
            <a:r>
              <a:t>JAROOS</a:t>
            </a:r>
          </a:p>
          <a:p>
            <a:pPr>
              <a:spcAft>
                <a:spcPts val="2000"/>
              </a:spcAft>
              <a:defRPr b="1" sz="1800">
                <a:solidFill>
                  <a:srgbClr val="4F46E5"/>
                </a:solidFill>
              </a:defRPr>
            </a:pPr>
            <a:r>
              <a:t>Interactive Multi-Sensory Educational Platform for Early Childhood</a:t>
            </a:r>
          </a:p>
          <a:p>
            <a:pPr>
              <a:spcAft>
                <a:spcPts val="2800"/>
              </a:spcAft>
              <a:defRPr sz="1200">
                <a:solidFill>
                  <a:srgbClr val="475569"/>
                </a:solidFill>
              </a:defRPr>
            </a:pPr>
            <a:r>
              <a:t>A minimalist, ad-free mobile learning environment pairing gamified tactile modules, 100% on-device Piper neural voices, 3D Virtual Companion Simulator, authentic Malayalam bedtime stories, and PIN-secured parental screen-time governance.</a:t>
            </a:r>
          </a:p>
          <a:p>
            <a:pPr>
              <a:defRPr b="1" sz="1100">
                <a:solidFill>
                  <a:srgbClr val="0D9488"/>
                </a:solidFill>
              </a:defRPr>
            </a:pPr>
            <a:r>
              <a:t>Flutter &amp; Dart  •  100% Offline Piper Neural TTS  •  Zero Ads  •  3D Virtual Simulator  •  Parent Gate</a:t>
            </a:r>
          </a:p>
        </p:txBody>
      </p:sp>
      <p:pic>
        <p:nvPicPr>
          <p:cNvPr id="5" name="Picture 4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Presentation 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11 Essential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01. Introduction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Overview, problem statement, and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02. Literature Survey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Academic prior art, methods, and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03. Drawbacks of Existing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Passive video, robotic voice, ad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04. Proposed System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JAROOS solution, advantages, and pillars.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05. Technologies Used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Flutter, Provider, TTS, Audio,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06. System Design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4-tier architecture and workflow DFDs.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07. Dataset &amp; Database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Embedded NoSQL models and schemas.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2120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34924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08. Proposed Method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Modules, voice auto-detect, and gamification.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09. Results &amp; Screenshots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Test validation (73/73 passed) and UI.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10. Conclusion &amp; Roadmap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Completed milestones and future AI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11. References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Scholarly papers and technical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01 |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Introduction &amp; Project Fundamentals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Foundational Context, Problem Statement, and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Target Age: </a:t>
            </a:r>
            <a:r>
              <a:rPr sz="1000">
                <a:solidFill>
                  <a:srgbClr val="475569"/>
                </a:solidFill>
              </a:rPr>
              <a:t>Designed specifically for early childhood learners (ages 3–8).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Foundational Curriculum: </a:t>
            </a:r>
            <a:r>
              <a:rPr sz="1000">
                <a:solidFill>
                  <a:srgbClr val="475569"/>
                </a:solidFill>
              </a:rPr>
              <a:t>Alphabet, Numbers 1–20, Colors, Shapes, Animals, Fruits, Rhymes,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Multi-Sensory Engagement: </a:t>
            </a:r>
            <a:r>
              <a:rPr sz="1000">
                <a:solidFill>
                  <a:srgbClr val="475569"/>
                </a:solidFill>
              </a:rPr>
              <a:t>Tactile touch cards paired with synchronous voice narration and chime FX.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Ethical Preschool Design: </a:t>
            </a:r>
            <a:r>
              <a:rPr sz="1000">
                <a:solidFill>
                  <a:srgbClr val="475569"/>
                </a:solidFill>
              </a:rPr>
              <a:t>100% ad-free, distraction-free, and privacy-preserving.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Cognitive Passivity: </a:t>
            </a:r>
            <a:r>
              <a:rPr sz="1000">
                <a:solidFill>
                  <a:srgbClr val="475569"/>
                </a:solidFill>
              </a:rPr>
              <a:t>Over-reliance on continuous video streams (e.g. YouTube Kids) retards active recall.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Robotic Monotony: </a:t>
            </a:r>
            <a:r>
              <a:rPr sz="1000">
                <a:solidFill>
                  <a:srgbClr val="475569"/>
                </a:solidFill>
              </a:rPr>
              <a:t>Standard apps utilize flat, lifeless system voices lacking emotional warmth.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Cultural Disconnect: </a:t>
            </a:r>
            <a:r>
              <a:rPr sz="1000">
                <a:solidFill>
                  <a:srgbClr val="475569"/>
                </a:solidFill>
              </a:rPr>
              <a:t>Absence of authentic Indian regional folklore (Malayalam bedtime stories).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Unregulated Exposure: </a:t>
            </a:r>
            <a:r>
              <a:rPr sz="1000">
                <a:solidFill>
                  <a:srgbClr val="475569"/>
                </a:solidFill>
              </a:rPr>
              <a:t>Lack of parental screen-time limits and subject-level curation.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Tactile Learning: </a:t>
            </a:r>
            <a:r>
              <a:rPr sz="1000">
                <a:solidFill>
                  <a:srgbClr val="475569"/>
                </a:solidFill>
              </a:rPr>
              <a:t>Replace passive watching with interactive touch-and-learn activities.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Humanized Voice AI: </a:t>
            </a:r>
            <a:r>
              <a:rPr sz="1000">
                <a:solidFill>
                  <a:srgbClr val="475569"/>
                </a:solidFill>
              </a:rPr>
              <a:t>Deliver 9 expressive, pitch-tuned companion voices with audio preview.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Regional Storytelling: </a:t>
            </a:r>
            <a:r>
              <a:rPr sz="1000">
                <a:solidFill>
                  <a:srgbClr val="475569"/>
                </a:solidFill>
              </a:rPr>
              <a:t>Introduce authentic Malayalam moral tales with auto-detected native TTS.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Governance: </a:t>
            </a:r>
            <a:r>
              <a:rPr sz="1000">
                <a:solidFill>
                  <a:srgbClr val="475569"/>
                </a:solidFill>
              </a:rPr>
              <a:t>PIN-restricted daily screen-time budgeting and module toggling.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02 |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Literature Survey &amp; Academic Prior Art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Analysis of Related EdTech Systems and Identified Research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Existing Research &amp;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Papert's Constructionism: </a:t>
            </a:r>
            <a:r>
              <a:rPr sz="1000">
                <a:solidFill>
                  <a:srgbClr val="475569"/>
                </a:solidFill>
              </a:rPr>
              <a:t>Emphasizes hands-on tactile manipulation for cognitive development.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Kuhl et al. (Neuroscience): </a:t>
            </a:r>
            <a:r>
              <a:rPr sz="1000">
                <a:solidFill>
                  <a:srgbClr val="475569"/>
                </a:solidFill>
              </a:rPr>
              <a:t>Early exposure to native mother-tongues accelerates linguistic mastery.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Duolingo ABC &amp; Khan Kids: </a:t>
            </a:r>
            <a:r>
              <a:rPr sz="1000">
                <a:solidFill>
                  <a:srgbClr val="475569"/>
                </a:solidFill>
              </a:rPr>
              <a:t>Demonstrated the efficacy of bite-sized gamified literacy pathways.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UNESCO Early Literacy: </a:t>
            </a:r>
            <a:r>
              <a:rPr sz="1000">
                <a:solidFill>
                  <a:srgbClr val="475569"/>
                </a:solidFill>
              </a:rPr>
              <a:t>Highlights the critical need for regional storytelling in preschool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Methods &amp; Technologies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Gamification Elements: </a:t>
            </a:r>
            <a:r>
              <a:rPr sz="1000">
                <a:solidFill>
                  <a:srgbClr val="475569"/>
                </a:solidFill>
              </a:rPr>
              <a:t>Point scoring, continuous daily streaks, and digital badge achievements.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Standard TTS Engines: </a:t>
            </a:r>
            <a:r>
              <a:rPr sz="1000">
                <a:solidFill>
                  <a:srgbClr val="475569"/>
                </a:solidFill>
              </a:rPr>
              <a:t>Default OS robotic voice synthesis without pitch character tuning.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Video Stream Engines: </a:t>
            </a:r>
            <a:r>
              <a:rPr sz="1000">
                <a:solidFill>
                  <a:srgbClr val="475569"/>
                </a:solidFill>
              </a:rPr>
              <a:t>Continuous pre-rendered cartoon animations streamed over HTTP.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Cloud Dependency: </a:t>
            </a:r>
            <a:r>
              <a:rPr sz="1000">
                <a:solidFill>
                  <a:srgbClr val="475569"/>
                </a:solidFill>
              </a:rPr>
              <a:t>Mandatory continuous internet connectivity for asset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Research Gaps 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Absence of Regional Folk Tales: </a:t>
            </a:r>
            <a:r>
              <a:rPr sz="1000">
                <a:solidFill>
                  <a:srgbClr val="475569"/>
                </a:solidFill>
              </a:rPr>
              <a:t>Global apps ignore indigenous stories like Malayalam moral folklore.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Monotone Voice Delivery: </a:t>
            </a:r>
            <a:r>
              <a:rPr sz="1000">
                <a:solidFill>
                  <a:srgbClr val="475569"/>
                </a:solidFill>
              </a:rPr>
              <a:t>Lack of animated, pitch-modulated companion personas ('wow factors').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Offline Readiness: </a:t>
            </a:r>
            <a:r>
              <a:rPr sz="1000">
                <a:solidFill>
                  <a:srgbClr val="475569"/>
                </a:solidFill>
              </a:rPr>
              <a:t>Current streaming apps fail completely during offline travel.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Missing Parental Locks: </a:t>
            </a:r>
            <a:r>
              <a:rPr sz="1000">
                <a:solidFill>
                  <a:srgbClr val="475569"/>
                </a:solidFill>
              </a:rPr>
              <a:t>No robust PIN barriers or customizable screen-time caps.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03 |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Drawbacks of Existing Systems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Critical Flaws and Challenges in Current Commercial Learning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Limitations of Current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Passive Screen Addiction: </a:t>
            </a:r>
            <a:r>
              <a:rPr sz="1000">
                <a:solidFill>
                  <a:srgbClr val="475569"/>
                </a:solidFill>
              </a:rPr>
              <a:t>Kids stare at endless autoplay reels without making decisions or recalling concepts.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Robotic, Monotone TTS: </a:t>
            </a:r>
            <a:r>
              <a:rPr sz="1000">
                <a:solidFill>
                  <a:srgbClr val="475569"/>
                </a:solidFill>
              </a:rPr>
              <a:t>Generic system voices sound cold, mechanical, and boring to young toddlers.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Western Monolingual Bias: </a:t>
            </a:r>
            <a:r>
              <a:rPr sz="1000">
                <a:solidFill>
                  <a:srgbClr val="475569"/>
                </a:solidFill>
              </a:rPr>
              <a:t>Exclusively Latin/English phonics; completely overlooks Indian regional tongues.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Visual &amp; Auditory Clutter: </a:t>
            </a:r>
            <a:r>
              <a:rPr sz="1000">
                <a:solidFill>
                  <a:srgbClr val="475569"/>
                </a:solidFill>
              </a:rPr>
              <a:t>Overwhelming strobe-like animations that lead to rapid attention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Problems &amp; Challenges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Predatory In-App Purchases: </a:t>
            </a:r>
            <a:r>
              <a:rPr sz="1000">
                <a:solidFill>
                  <a:srgbClr val="475569"/>
                </a:solidFill>
              </a:rPr>
              <a:t>Accidental toddler taps trigger recurring subscription traps and pop-ups.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Intrusive Banner Ads: </a:t>
            </a:r>
            <a:r>
              <a:rPr sz="1000">
                <a:solidFill>
                  <a:srgbClr val="475569"/>
                </a:solidFill>
              </a:rPr>
              <a:t>Unvetted advertisements jeopardize child safety and interrupt learning.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No Parental Screen Caps: </a:t>
            </a:r>
            <a:r>
              <a:rPr sz="1000">
                <a:solidFill>
                  <a:srgbClr val="475569"/>
                </a:solidFill>
              </a:rPr>
              <a:t>Parents cannot prevent excessive device usage or lock out distracting games.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High Bandwidth Demands: </a:t>
            </a:r>
            <a:r>
              <a:rPr sz="1000">
                <a:solidFill>
                  <a:srgbClr val="475569"/>
                </a:solidFill>
              </a:rPr>
              <a:t>Constant buffering, high data consumption, and failure in offline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04 |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Proposed System: JAROOS Solution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 Child-Centric, Multi-Sensory, and Offline-First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Overview of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All-in-One Early Learning: </a:t>
            </a:r>
            <a:r>
              <a:rPr sz="1000">
                <a:solidFill>
                  <a:srgbClr val="475569"/>
                </a:solidFill>
              </a:rPr>
              <a:t>Covers Alphabet, Numbers, Colors, Shapes, Animals, Fruits, Rhymes,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On-Device Neural TTS: </a:t>
            </a:r>
            <a:r>
              <a:rPr sz="1000">
                <a:solidFill>
                  <a:srgbClr val="475569"/>
                </a:solidFill>
              </a:rPr>
              <a:t>Bundled INT8 Piper neural models for English and Malayalam with zero server dependency.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Interactive 3D Simulator: </a:t>
            </a:r>
            <a:r>
              <a:rPr sz="1000">
                <a:solidFill>
                  <a:srgbClr val="475569"/>
                </a:solidFill>
              </a:rPr>
              <a:t>Talking Tom kid companion with voice mimicry, touch physics, and snack feeding.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Security Shield: </a:t>
            </a:r>
            <a:r>
              <a:rPr sz="1000">
                <a:solidFill>
                  <a:srgbClr val="475569"/>
                </a:solidFill>
              </a:rPr>
              <a:t>PIN-secured dashboard with screen-time limits (15–60 min) and module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How It Solves Existing Flaws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Over Passive: </a:t>
            </a:r>
            <a:r>
              <a:rPr sz="1000">
                <a:solidFill>
                  <a:srgbClr val="475569"/>
                </a:solidFill>
              </a:rPr>
              <a:t>Replaces mind-numbing video streams with hands-on touch tasks and companion interaction.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Emotional Neural Voice AI: </a:t>
            </a:r>
            <a:r>
              <a:rPr sz="1000">
                <a:solidFill>
                  <a:srgbClr val="475569"/>
                </a:solidFill>
              </a:rPr>
              <a:t>Precompiled C++ ONNX Runtime delivers warm, natural humanized speech locally.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Cultural Grounding: </a:t>
            </a:r>
            <a:r>
              <a:rPr sz="1000">
                <a:solidFill>
                  <a:srgbClr val="475569"/>
                </a:solidFill>
              </a:rPr>
              <a:t>Native Malayalam storytelling preserved with clean English UI navigation.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Control: </a:t>
            </a:r>
            <a:r>
              <a:rPr sz="1000">
                <a:solidFill>
                  <a:srgbClr val="475569"/>
                </a:solidFill>
              </a:rPr>
              <a:t>Enforces healthy digital screen habits through automatic session timeouts.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Key Advantages of JAROOS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Ad-Free &amp; Offline: </a:t>
            </a:r>
            <a:r>
              <a:rPr sz="1000">
                <a:solidFill>
                  <a:srgbClr val="475569"/>
                </a:solidFill>
              </a:rPr>
              <a:t>Zero ads, zero tracking, and runs fully on physical hardware with zero internet.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Real-Time Voice Caricature: </a:t>
            </a:r>
            <a:r>
              <a:rPr sz="1000">
                <a:solidFill>
                  <a:srgbClr val="475569"/>
                </a:solidFill>
              </a:rPr>
              <a:t>Instant 1.65x pitch modulation for child laughter and phonetic mimicry.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Cloud Costs: </a:t>
            </a:r>
            <a:r>
              <a:rPr sz="1000">
                <a:solidFill>
                  <a:srgbClr val="475569"/>
                </a:solidFill>
              </a:rPr>
              <a:t>Eliminates recurring cloud API billing by running neural inference on device CPU.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Seamless Performance: </a:t>
            </a:r>
            <a:r>
              <a:rPr sz="1000">
                <a:solidFill>
                  <a:srgbClr val="475569"/>
                </a:solidFill>
              </a:rPr>
              <a:t>Fluid 60–120 FPS animations on phones and tablets with sub-50ms audio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05 |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Technology Stack &amp; Frameworks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Architectural Tools, Libraries, and Execution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Front-End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Flutter 3.x: </a:t>
            </a:r>
            <a:r>
              <a:rPr sz="1000">
                <a:solidFill>
                  <a:srgbClr val="475569"/>
                </a:solidFill>
              </a:rPr>
              <a:t>Reactive UI toolkit compiling to native ARM machine code.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Dart Language: </a:t>
            </a:r>
            <a:r>
              <a:rPr sz="1000">
                <a:solidFill>
                  <a:srgbClr val="475569"/>
                </a:solidFill>
              </a:rPr>
              <a:t>Type-safe, null-safe language optimized for 60–120 FPS.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Material 3: </a:t>
            </a:r>
            <a:r>
              <a:rPr sz="1000">
                <a:solidFill>
                  <a:srgbClr val="475569"/>
                </a:solidFill>
              </a:rPr>
              <a:t>Modern, child-friendly design system with soft shadows.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Google Fonts: </a:t>
            </a:r>
            <a:r>
              <a:rPr sz="1000">
                <a:solidFill>
                  <a:srgbClr val="475569"/>
                </a:solidFill>
              </a:rPr>
              <a:t>Fredoka &amp; Nunito for high pre-literacy legibility.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State &amp;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Provider Pattern: </a:t>
            </a:r>
            <a:r>
              <a:rPr sz="1000">
                <a:solidFill>
                  <a:srgbClr val="475569"/>
                </a:solidFill>
              </a:rPr>
              <a:t>Decoupled state management using ChangeNotifier.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Modular Providers: </a:t>
            </a:r>
            <a:r>
              <a:rPr sz="1000">
                <a:solidFill>
                  <a:srgbClr val="475569"/>
                </a:solidFill>
              </a:rPr>
              <a:t>LearningProvider, ParentProvider, AudioProvider.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Scoped Rebuilds: </a:t>
            </a:r>
            <a:r>
              <a:rPr sz="1000">
                <a:solidFill>
                  <a:srgbClr val="475569"/>
                </a:solidFill>
              </a:rPr>
              <a:t>Isolates UI updates to eliminate memory bloat.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MVVM Pattern: </a:t>
            </a:r>
            <a:r>
              <a:rPr sz="1000">
                <a:solidFill>
                  <a:srgbClr val="475569"/>
                </a:solidFill>
              </a:rPr>
              <a:t>Clean separation of presentation, state, and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Neural Audio &amp; Voice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sherpa_onnx: </a:t>
            </a:r>
            <a:r>
              <a:rPr sz="1000">
                <a:solidFill>
                  <a:srgbClr val="475569"/>
                </a:solidFill>
              </a:rPr>
              <a:t>High-performance C++ ONNX Runtime compiled for Android (arm64, armv7, x86_64).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Piper INT8 Models: </a:t>
            </a:r>
            <a:r>
              <a:rPr sz="1000">
                <a:solidFill>
                  <a:srgbClr val="475569"/>
                </a:solidFill>
              </a:rPr>
              <a:t>Bundled quantized neural models for English (Lessac, Amy) and Malayalam (Arjun, Meera).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audioplayers &amp; DSP: </a:t>
            </a:r>
            <a:r>
              <a:rPr sz="1000">
                <a:solidFill>
                  <a:srgbClr val="475569"/>
                </a:solidFill>
              </a:rPr>
              <a:t>Real-time 16-bit PCM WAV playback with 1.65x pitch caricature shifting.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espeak-ng Phonetics: </a:t>
            </a:r>
            <a:r>
              <a:rPr sz="1000">
                <a:solidFill>
                  <a:srgbClr val="475569"/>
                </a:solidFill>
              </a:rPr>
              <a:t>Shared phoneme tables extracted to local storage on first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Storage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shared_preferences: </a:t>
            </a:r>
            <a:r>
              <a:rPr sz="1000">
                <a:solidFill>
                  <a:srgbClr val="475569"/>
                </a:solidFill>
              </a:rPr>
              <a:t>Local key-value and structured cache engine for stats.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Cloud Overhead: </a:t>
            </a:r>
            <a:r>
              <a:rPr sz="1000">
                <a:solidFill>
                  <a:srgbClr val="475569"/>
                </a:solidFill>
              </a:rPr>
              <a:t>Fast atomic local reads/writes without network latency.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Dual-Flavor Gradle: </a:t>
            </a:r>
            <a:r>
              <a:rPr sz="1000">
                <a:solidFill>
                  <a:srgbClr val="475569"/>
                </a:solidFill>
              </a:rPr>
              <a:t>Builds standalone Global and Testing release APKs.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Android OS Support: </a:t>
            </a:r>
            <a:r>
              <a:rPr sz="1000">
                <a:solidFill>
                  <a:srgbClr val="475569"/>
                </a:solidFill>
              </a:rPr>
              <a:t>Compatible with Android 5.0+ (API 21 to 34).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System Architecture &amp; Process Flow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4-Tier Layered Framework and End-to-End Learning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System Architectural Design (4 Tiers)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1: Presentation Layer
</a:t>
            </a:r>
            <a:r>
              <a:rPr sz="1000">
                <a:solidFill>
                  <a:srgbClr val="475569"/>
                </a:solidFill>
              </a:rPr>
              <a:t>Navigation Shell, Early Learning Modules, 3D Virtual Simulator, Bedtime Stories Reader, Parent Dashboard.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2: Business Logic &amp; State
</a:t>
            </a:r>
            <a:r>
              <a:rPr sz="1000">
                <a:solidFill>
                  <a:srgbClr val="475569"/>
                </a:solidFill>
              </a:rPr>
              <a:t>LearningProvider (curriculum state), ParentProvider (PIN &amp; screen time), GamificationEngine.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3: Service Abstraction Layer
</a:t>
            </a:r>
            <a:r>
              <a:rPr sz="1000">
                <a:solidFill>
                  <a:srgbClr val="475569"/>
                </a:solidFill>
              </a:rPr>
              <a:t>PiperTtsService (ONNX inference &amp; pitch DSP), SoundFxService (chimes), StorageService.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4: Native Platform Layer
</a:t>
            </a:r>
            <a:r>
              <a:rPr sz="1000">
                <a:solidFill>
                  <a:srgbClr val="475569"/>
                </a:solidFill>
              </a:rPr>
              <a:t>Android OS, Native C++ ONNX Runtime (libonnxruntime.so), Flash Storage (SharedPrefs XML).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Workflow &amp; Process Flow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1: Module Selection: </a:t>
            </a:r>
            <a:r>
              <a:rPr sz="1000">
                <a:solidFill>
                  <a:srgbClr val="475569"/>
                </a:solidFill>
              </a:rPr>
              <a:t>Child selects Alphabet, Numbers, Animals, or Stories from dashboard.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2: Interactive Touch: </a:t>
            </a:r>
            <a:r>
              <a:rPr sz="1000">
                <a:solidFill>
                  <a:srgbClr val="475569"/>
                </a:solidFill>
              </a:rPr>
              <a:t>Child taps card; tactile chime sound effect triggers instantly.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3: Speech Synthesis: </a:t>
            </a:r>
            <a:r>
              <a:rPr sz="1000">
                <a:solidFill>
                  <a:srgbClr val="475569"/>
                </a:solidFill>
              </a:rPr>
              <a:t>TTS speaks pronunciation using active companion (e.g. Sparky or Unni).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4: Gamified Reward: </a:t>
            </a:r>
            <a:r>
              <a:rPr sz="1000">
                <a:solidFill>
                  <a:srgbClr val="475569"/>
                </a:solidFill>
              </a:rPr>
              <a:t>Engine awards +10 XP and +5 Coins; evaluates daily streak multiplier.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5: Milestone Celebration: </a:t>
            </a:r>
            <a:r>
              <a:rPr sz="1000">
                <a:solidFill>
                  <a:srgbClr val="475569"/>
                </a:solidFill>
              </a:rPr>
              <a:t>Confetti animation pops up on leveling up; unlocks Trophy Room badge.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6: Parent Gate Security: </a:t>
            </a:r>
            <a:r>
              <a:rPr sz="1000">
                <a:solidFill>
                  <a:srgbClr val="475569"/>
                </a:solidFill>
              </a:rPr>
              <a:t>PIN challenge (1234) prevents unauthorized access to parent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DFD LEVEL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 Flow Diagram: Level 0 (Context Level)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High-Level System Boundary &amp; Interactions with External 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9997135" cy="5712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DFD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 Flow Diagram: Level 1 (Process Decomposition)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Sub-Processes, Data Stores (D1–D5), and Inter-Process Data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83080"/>
            <a:ext cx="9997135" cy="6248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07 |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Dataset &amp; Database Entity Schema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Embedded NoSQL Architecture, Collections, and Attributes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Dataset Scope &amp;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Dataset Source: </a:t>
            </a:r>
            <a:r>
              <a:rPr sz="1000">
                <a:solidFill>
                  <a:srgbClr val="475569"/>
                </a:solidFill>
              </a:rPr>
              <a:t>Curated pedagogical phonics, numbering assets, animal vocatives, and folklore.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Dataset Scale: </a:t>
            </a:r>
            <a:r>
              <a:rPr sz="1000">
                <a:solidFill>
                  <a:srgbClr val="475569"/>
                </a:solidFill>
              </a:rPr>
              <a:t>26 Alphabet phonics, 20 Numbers, 12 Animals, 12 Fruits/Veggies, 12 Bedtime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Story Content: </a:t>
            </a:r>
            <a:r>
              <a:rPr sz="1000">
                <a:solidFill>
                  <a:srgbClr val="475569"/>
                </a:solidFill>
              </a:rPr>
              <a:t>6 English classic fables + 6 authentic Malayalam moral folklore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Voice Persona Catalog: </a:t>
            </a:r>
            <a:r>
              <a:rPr sz="1000">
                <a:solidFill>
                  <a:srgbClr val="475569"/>
                </a:solidFill>
              </a:rPr>
              <a:t>9 distinct acoustic profiles with pitch, rate, and preview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Database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Database Engine: </a:t>
            </a:r>
            <a:r>
              <a:rPr sz="1000">
                <a:solidFill>
                  <a:srgbClr val="475569"/>
                </a:solidFill>
              </a:rPr>
              <a:t>Embedded lightweight NoSQL key-value store via SharedPreferences.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Cloud Overhead: </a:t>
            </a:r>
            <a:r>
              <a:rPr sz="1000">
                <a:solidFill>
                  <a:srgbClr val="475569"/>
                </a:solidFill>
              </a:rPr>
              <a:t>Fast local reads/writes with zero cloud sync delays or costs.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Persistence Guarantees: </a:t>
            </a:r>
            <a:r>
              <a:rPr sz="1000">
                <a:solidFill>
                  <a:srgbClr val="475569"/>
                </a:solidFill>
              </a:rPr>
              <a:t>Auto-saves child level, coins, completed lessons, and parent PIN.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 Privacy: </a:t>
            </a:r>
            <a:r>
              <a:rPr sz="1000">
                <a:solidFill>
                  <a:srgbClr val="475569"/>
                </a:solidFill>
              </a:rPr>
              <a:t>100% stored on-device; no data leaves the physical handset.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Entities &amp;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LearningModule Model: </a:t>
            </a:r>
            <a:r>
              <a:rPr sz="1000">
                <a:solidFill>
                  <a:srgbClr val="475569"/>
                </a:solidFill>
              </a:rPr>
              <a:t>id, title, category, progress (0.0–1.0), isCompleted, isEnabled.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VoicePersona Model: </a:t>
            </a:r>
            <a:r>
              <a:rPr sz="1000">
                <a:solidFill>
                  <a:srgbClr val="475569"/>
                </a:solidFill>
              </a:rPr>
              <a:t>id, name, avatarEmoji, pitch (0.92–1.34), speechRate, languageCode.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StoryItem Model: </a:t>
            </a:r>
            <a:r>
              <a:rPr sz="1000">
                <a:solidFill>
                  <a:srgbClr val="475569"/>
                </a:solidFill>
              </a:rPr>
              <a:t>title, emoji, moral, duration, paragraphs, language ('en' | 'ml').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ParentSettings &amp; Profile: </a:t>
            </a:r>
            <a:r>
              <a:rPr sz="1000">
                <a:solidFill>
                  <a:srgbClr val="475569"/>
                </a:solidFill>
              </a:rPr>
              <a:t>parentPin, dailyTimeLimitMinutes, todayScreenTime, totalXp, coins, streak.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08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Proposed Method, Algorithms &amp; Modules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Functional Modules and Real-Time Execution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Major Modules &amp;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Early Learning Suite: </a:t>
            </a:r>
            <a:r>
              <a:rPr sz="1000">
                <a:solidFill>
                  <a:srgbClr val="475569"/>
                </a:solidFill>
              </a:rPr>
              <a:t>Alphabet phonics, Number counting 1–20, Colors &amp; Shapes Studio.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Interactive 3D Simulator: </a:t>
            </a:r>
            <a:r>
              <a:rPr sz="1000">
                <a:solidFill>
                  <a:srgbClr val="475569"/>
                </a:solidFill>
              </a:rPr>
              <a:t>Voice repetition, multi-zone touch physics (hair, cheek, belly), snack feeding.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Bedtime Stories Reader: </a:t>
            </a:r>
            <a:r>
              <a:rPr sz="1000">
                <a:solidFill>
                  <a:srgbClr val="475569"/>
                </a:solidFill>
              </a:rPr>
              <a:t>12 moral stories with 1-tap bilingual filtering and neural narration.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Control Shield: </a:t>
            </a:r>
            <a:r>
              <a:rPr sz="1000">
                <a:solidFill>
                  <a:srgbClr val="475569"/>
                </a:solidFill>
              </a:rPr>
              <a:t>PIN gate, screen-time limiter (15–60 min), and subject toggles.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Algorithm 1: On-Device Neural 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 (Input &amp; Script Check): </a:t>
            </a:r>
            <a:r>
              <a:rPr sz="1000">
                <a:solidFill>
                  <a:srgbClr val="475569"/>
                </a:solidFill>
              </a:rPr>
              <a:t>Ingest text into PiperTtsService; inspect for Malayalam unicode range [\u0D00-\u0D7F].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 (Model Dispatch): </a:t>
            </a:r>
            <a:r>
              <a:rPr sz="1000">
                <a:solidFill>
                  <a:srgbClr val="475569"/>
                </a:solidFill>
              </a:rPr>
              <a:t>Route to ml_IN-arjun-medium or en_US-lessac-medium INT8 ONNX model.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 (Neural Synthesis): </a:t>
            </a:r>
            <a:r>
              <a:rPr sz="1000">
                <a:solidFill>
                  <a:srgbClr val="475569"/>
                </a:solidFill>
              </a:rPr>
              <a:t>Execute sherpa_onnx.OfflineTts to generate raw 16-bit PCM audio samples.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 (Pitch Caricature): </a:t>
            </a:r>
            <a:r>
              <a:rPr sz="1000">
                <a:solidFill>
                  <a:srgbClr val="475569"/>
                </a:solidFill>
              </a:rPr>
              <a:t>If in Simulator mode, modulate sample rate by 1.65x for Talking Tom mimicry.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 (Audio Playback): </a:t>
            </a:r>
            <a:r>
              <a:rPr sz="1000">
                <a:solidFill>
                  <a:srgbClr val="475569"/>
                </a:solidFill>
              </a:rPr>
              <a:t>Write RIFF/WAV header and stream directly through audioplayers.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Algorithm 2: Gamification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 (Base Reward): </a:t>
            </a:r>
            <a:r>
              <a:rPr sz="1000">
                <a:solidFill>
                  <a:srgbClr val="475569"/>
                </a:solidFill>
              </a:rPr>
              <a:t>Award +10 XP and +5 Coins on each module activity completion.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 (Streak Multiplier): </a:t>
            </a:r>
            <a:r>
              <a:rPr sz="1000">
                <a:solidFill>
                  <a:srgbClr val="475569"/>
                </a:solidFill>
              </a:rPr>
              <a:t>Apply multiplier: min(1.0 + streakDays * 0.1, 2.0).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 (Level Check): </a:t>
            </a:r>
            <a:r>
              <a:rPr sz="1000">
                <a:solidFill>
                  <a:srgbClr val="475569"/>
                </a:solidFill>
              </a:rPr>
              <a:t>If totalXp &gt;= Level * 100, trigger level-up celebration.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 (Badge Evaluator): </a:t>
            </a:r>
            <a:r>
              <a:rPr sz="1000">
                <a:solidFill>
                  <a:srgbClr val="475569"/>
                </a:solidFill>
              </a:rPr>
              <a:t>Evaluate trophy criteria and unlock achievement badges.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 (Persistence): </a:t>
            </a:r>
            <a:r>
              <a:rPr sz="1000">
                <a:solidFill>
                  <a:srgbClr val="475569"/>
                </a:solidFill>
              </a:rPr>
              <a:t>Commit updated stats to local SharedPreferences.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09 |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Results, Performance &amp; UI Showcase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Verification Metrics, Automated Test Results, and Important UI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Implementation &amp; Quality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Automated Test Suite: </a:t>
            </a:r>
            <a:r>
              <a:rPr sz="1000">
                <a:solidFill>
                  <a:srgbClr val="475569"/>
                </a:solidFill>
              </a:rPr>
              <a:t>73/73 tests passed cleanly (100% pass rate) across all modules.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Rendering Performance: </a:t>
            </a:r>
            <a:r>
              <a:rPr sz="1000">
                <a:solidFill>
                  <a:srgbClr val="475569"/>
                </a:solidFill>
              </a:rPr>
              <a:t>Smooth 60–120 FPS execution with zero dropped frames or janks.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Audio Latency: </a:t>
            </a:r>
            <a:r>
              <a:rPr sz="1000">
                <a:solidFill>
                  <a:srgbClr val="475569"/>
                </a:solidFill>
              </a:rPr>
              <a:t>Sub-50ms trigger response on tactile card clicks and neural speech synthesis.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Package Footprint: </a:t>
            </a:r>
            <a:r>
              <a:rPr sz="1000">
                <a:solidFill>
                  <a:srgbClr val="475569"/>
                </a:solidFill>
              </a:rPr>
              <a:t>Standalone offline APK with zero external server or streaming dependencies.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Offline Stability: </a:t>
            </a:r>
            <a:r>
              <a:rPr sz="1000">
                <a:solidFill>
                  <a:srgbClr val="475569"/>
                </a:solidFill>
              </a:rPr>
              <a:t>100% of modules, neural voices, and stories operational in airplane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Important UI Screens &amp; Implementation</a:t>
            </a:r>
          </a:p>
        </p:txBody>
      </p:sp>
      <p:pic>
        <p:nvPicPr>
          <p:cNvPr id="10" name="Picture 9" descr="jaroos_jungle_splash_17894673769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31720"/>
            <a:ext cx="2286000" cy="4095750"/>
          </a:xfrm>
          <a:prstGeom prst="rect">
            <a:avLst/>
          </a:prstGeom>
        </p:spPr>
      </p:pic>
      <p:pic>
        <p:nvPicPr>
          <p:cNvPr id="11" name="Picture 10" descr="simulator_character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31720"/>
            <a:ext cx="2286000" cy="30616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7607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Visual UI Showcase: 3D Jungle Animated Splash &amp; 3D Interactive Virtual Simulator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10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Conclusion &amp; Future Enhancements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Project Summary, Completed Outcomes, and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Summary of Work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Interactive Preschool Platform: </a:t>
            </a:r>
            <a:r>
              <a:rPr sz="1000">
                <a:solidFill>
                  <a:srgbClr val="475569"/>
                </a:solidFill>
              </a:rPr>
              <a:t>Successfully created a joyful, multi-sensory educational ecosystem.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On-Device Neural TTS: </a:t>
            </a:r>
            <a:r>
              <a:rPr sz="1000">
                <a:solidFill>
                  <a:srgbClr val="475569"/>
                </a:solidFill>
              </a:rPr>
              <a:t>Replaced robotic monotone with bundled int8 Piper models via C++ ONNX Runtime.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Interactive 3D Virtual Companion: </a:t>
            </a:r>
            <a:r>
              <a:rPr sz="1000">
                <a:solidFill>
                  <a:srgbClr val="475569"/>
                </a:solidFill>
              </a:rPr>
              <a:t>Developed real-time 'Talking Tom' repetition and touch physics.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Digital Well-Being: </a:t>
            </a:r>
            <a:r>
              <a:rPr sz="1000">
                <a:solidFill>
                  <a:srgbClr val="475569"/>
                </a:solidFill>
              </a:rPr>
              <a:t>Implemented PIN-restricted screen-time caps and curriculum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Achieved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Engagement Achieved: </a:t>
            </a:r>
            <a:r>
              <a:rPr sz="1000">
                <a:solidFill>
                  <a:srgbClr val="475569"/>
                </a:solidFill>
              </a:rPr>
              <a:t>Eliminated passive video consumption through interactive touch tasks.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Server &amp; Cloud Overhead: </a:t>
            </a:r>
            <a:r>
              <a:rPr sz="1000">
                <a:solidFill>
                  <a:srgbClr val="475569"/>
                </a:solidFill>
              </a:rPr>
              <a:t>Fully autonomous offline mobile architecture running on device CPU.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Cultural Preservation: </a:t>
            </a:r>
            <a:r>
              <a:rPr sz="1000">
                <a:solidFill>
                  <a:srgbClr val="475569"/>
                </a:solidFill>
              </a:rPr>
              <a:t>Integrated authentic Malayalam bedtime stories with native phonetics.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Verified Quality: </a:t>
            </a:r>
            <a:r>
              <a:rPr sz="1000">
                <a:solidFill>
                  <a:srgbClr val="475569"/>
                </a:solidFill>
              </a:rPr>
              <a:t>All 73 automated tests passing, production release v1.4.0 deployed to GitHub.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Speech Recognition (STT): </a:t>
            </a:r>
            <a:r>
              <a:rPr sz="1000">
                <a:solidFill>
                  <a:srgbClr val="475569"/>
                </a:solidFill>
              </a:rPr>
              <a:t>Introduce 'Repeat after me' microphone pronunciation assessment.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Adaptive AI Learning Paths: </a:t>
            </a:r>
            <a:r>
              <a:rPr sz="1000">
                <a:solidFill>
                  <a:srgbClr val="475569"/>
                </a:solidFill>
              </a:rPr>
              <a:t>Dynamic question difficulty scaling based on individual error rates.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More Regional Languages: </a:t>
            </a:r>
            <a:r>
              <a:rPr sz="1000">
                <a:solidFill>
                  <a:srgbClr val="475569"/>
                </a:solidFill>
              </a:rPr>
              <a:t>Expand storytelling and voice models to Tamil, Telugu, Kannada, Hindi.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Augmented Reality (AR): </a:t>
            </a:r>
            <a:r>
              <a:rPr sz="1000">
                <a:solidFill>
                  <a:srgbClr val="475569"/>
                </a:solidFill>
              </a:rPr>
              <a:t>Interactive 3D animal models and shapes projected in physical rooms.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11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Academic References &amp; Documentation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Scholarly Literature, Pedagogical Studies, and Technical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Research Papers &amp; Pedagogy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Papert &amp; Harel (1991): </a:t>
            </a:r>
            <a:r>
              <a:rPr sz="1000">
                <a:solidFill>
                  <a:srgbClr val="475569"/>
                </a:solidFill>
              </a:rPr>
              <a:t>Constructionism. Ablex Publishing Corporation. (Active child learning).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Resnick, M. (2007): </a:t>
            </a:r>
            <a:r>
              <a:rPr sz="1000">
                <a:solidFill>
                  <a:srgbClr val="475569"/>
                </a:solidFill>
              </a:rPr>
              <a:t>All I Really Need to Know (Kindergarten Expanded). ACM Creativity &amp; Cognition.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Kuhl, P. K. (2018): </a:t>
            </a:r>
            <a:r>
              <a:rPr sz="1000">
                <a:solidFill>
                  <a:srgbClr val="475569"/>
                </a:solidFill>
              </a:rPr>
              <a:t>Early Language Learning &amp; Neuroscience. Mind, Brain &amp; Education, 12(3).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UNESCO Report (2022): </a:t>
            </a:r>
            <a:r>
              <a:rPr sz="1000">
                <a:solidFill>
                  <a:srgbClr val="475569"/>
                </a:solidFill>
              </a:rPr>
              <a:t>Born to Learn: Spotlight on Mother-Tongue Primary Education in South Asia.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EdTech &amp; Gamification 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Deterding et al. (2011): </a:t>
            </a:r>
            <a:r>
              <a:rPr sz="1000">
                <a:solidFill>
                  <a:srgbClr val="475569"/>
                </a:solidFill>
              </a:rPr>
              <a:t>From Game Design Elements to Gamefulness. MindTrek Conference, ACM.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Gee, J. P. (2003): </a:t>
            </a:r>
            <a:r>
              <a:rPr sz="1000">
                <a:solidFill>
                  <a:srgbClr val="475569"/>
                </a:solidFill>
              </a:rPr>
              <a:t>What Video Games Have to Teach Us About Learning and Literacy. Palgrave.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Hirsh-Pasek et al. (2015): </a:t>
            </a:r>
            <a:r>
              <a:rPr sz="1000">
                <a:solidFill>
                  <a:srgbClr val="475569"/>
                </a:solidFill>
              </a:rPr>
              <a:t>Putting Education in 'Educational' Apps: Psychological Science Public Interest.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Technical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Google Flutter Dev (2024): </a:t>
            </a:r>
            <a:r>
              <a:rPr sz="1000">
                <a:solidFill>
                  <a:srgbClr val="475569"/>
                </a:solidFill>
              </a:rPr>
              <a:t>Flutter Architectural Overview &amp; Compilation Docs (https://docs.flutter.dev).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Android Open Source (2024): </a:t>
            </a:r>
            <a:r>
              <a:rPr sz="1000">
                <a:solidFill>
                  <a:srgbClr val="475569"/>
                </a:solidFill>
              </a:rPr>
              <a:t>Android TextToSpeech API Specification (developer.android.com).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Unicode Consortium (2024): </a:t>
            </a:r>
            <a:r>
              <a:rPr sz="1000">
                <a:solidFill>
                  <a:srgbClr val="475569"/>
                </a:solidFill>
              </a:rPr>
              <a:t>Malayalam Unicode Script Block Chart 0D00–0D7F (unicode.org).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