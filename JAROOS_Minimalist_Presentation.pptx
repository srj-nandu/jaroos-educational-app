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0" d="100"/>
          <a:sy n="50" d="100"/>
        </p:scale>
        <p:origin x="898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7772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1">
                <a:solidFill>
                  <a:srgbClr val="4F46E5"/>
                </a:solidFill>
              </a:defRPr>
            </a:pPr>
            <a:r>
              <a:t>PROJECT PRESENTATION  |  EDTECH &amp; HUMANIZED AI</a:t>
            </a:r>
          </a:p>
          <a:p>
            <a:pPr>
              <a:spcAft>
                <a:spcPts val="400"/>
              </a:spcAft>
              <a:defRPr sz="4400" b="1">
                <a:solidFill>
                  <a:srgbClr val="0F172A"/>
                </a:solidFill>
              </a:defRPr>
            </a:pPr>
            <a:r>
              <a:t>JAROOS</a:t>
            </a:r>
          </a:p>
          <a:p>
            <a:pPr>
              <a:spcAft>
                <a:spcPts val="2000"/>
              </a:spcAft>
              <a:defRPr sz="1800" b="1">
                <a:solidFill>
                  <a:srgbClr val="4F46E5"/>
                </a:solidFill>
              </a:defRPr>
            </a:pPr>
            <a:r>
              <a:t>Interactive Multi-Sensory Educational Platform for Early Childhood</a:t>
            </a:r>
          </a:p>
          <a:p>
            <a:pPr>
              <a:spcAft>
                <a:spcPts val="2800"/>
              </a:spcAft>
              <a:defRPr sz="1200">
                <a:solidFill>
                  <a:srgbClr val="475569"/>
                </a:solidFill>
              </a:defRPr>
            </a:pPr>
            <a:r>
              <a:t>A minimalist, ad-free mobile learning environment pairing gamified tactile modules, 9 humanized companion voices, authentic Malayalam bedtime stories, and PIN-secured parental screen-time governance.</a:t>
            </a:r>
          </a:p>
          <a:p>
            <a:pPr>
              <a:defRPr sz="1100" b="1">
                <a:solidFill>
                  <a:srgbClr val="0D9488"/>
                </a:solidFill>
              </a:defRPr>
            </a:pPr>
            <a:r>
              <a:t>Flutter &amp; Dart  •  100% Offline-Ready  •  Zero Ads  •  Auto-Detect TTS  •  Parent Gate</a:t>
            </a:r>
          </a:p>
        </p:txBody>
      </p:sp>
      <p:pic>
        <p:nvPicPr>
          <p:cNvPr id="5" name="Picture 4" descr="app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3716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Presentation Structure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11 Essential Topics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01. Introduction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Overview, problem statement, and goals.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02. Literature Survey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Academic prior art, methods, and gaps.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03. Drawbacks of Existing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Passive video, robotic voice, ad bloat.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34924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04. Proposed System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JAROOS solution, advantages, and pillars.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64592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178308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05. Technologies Used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Flutter, Provider, TTS, Audio, Storage.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834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97180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06. System Design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4-tier architecture and workflow DFDs.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0233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26280" y="416052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07. Dataset &amp; Database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Embedded NoSQL models and schemas.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2120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26280" y="534924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08. Proposed Method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Modules, voice auto-detect, and gamification.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4592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83880" y="178308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09. Results &amp; Screenshots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Test validation (55/55 passed) and UI.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834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80" y="297180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10. Conclusion &amp; Roadmap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Completed milestones and future AI work.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0233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83880" y="416052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11. References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Scholarly papers and technical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01 |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Introduction &amp; Project Fundamentals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Foundational Context, Problem Statement, and Core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Target Age: </a:t>
            </a:r>
            <a:r>
              <a:rPr sz="1000">
                <a:solidFill>
                  <a:srgbClr val="475569"/>
                </a:solidFill>
              </a:rPr>
              <a:t>Designed specifically for early childhood learners (ages 3–8).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Foundational Curriculum: </a:t>
            </a:r>
            <a:r>
              <a:rPr sz="1000">
                <a:solidFill>
                  <a:srgbClr val="475569"/>
                </a:solidFill>
              </a:rPr>
              <a:t>Alphabet, Numbers 1–20, Colors, Shapes, Animals, Fruits, Rhymes, Stories.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Multi-Sensory Engagement: </a:t>
            </a:r>
            <a:r>
              <a:rPr sz="1000">
                <a:solidFill>
                  <a:srgbClr val="475569"/>
                </a:solidFill>
              </a:rPr>
              <a:t>Tactile touch cards paired with synchronous voice narration and chime FX.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Ethical Preschool Design: </a:t>
            </a:r>
            <a:r>
              <a:rPr sz="1000">
                <a:solidFill>
                  <a:srgbClr val="475569"/>
                </a:solidFill>
              </a:rPr>
              <a:t>100% ad-free, distraction-free, and privacy-preserving.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Problem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Cognitive Passivity: </a:t>
            </a:r>
            <a:r>
              <a:rPr sz="1000">
                <a:solidFill>
                  <a:srgbClr val="475569"/>
                </a:solidFill>
              </a:rPr>
              <a:t>Over-reliance on continuous video streams (e.g. YouTube Kids) retards active recall.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Robotic Monotony: </a:t>
            </a:r>
            <a:r>
              <a:rPr sz="1000">
                <a:solidFill>
                  <a:srgbClr val="475569"/>
                </a:solidFill>
              </a:rPr>
              <a:t>Standard apps utilize flat, lifeless system voices lacking emotional warmth.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Cultural Disconnect: </a:t>
            </a:r>
            <a:r>
              <a:rPr sz="1000">
                <a:solidFill>
                  <a:srgbClr val="475569"/>
                </a:solidFill>
              </a:rPr>
              <a:t>Absence of authentic Indian regional folklore (Malayalam bedtime stories).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Unregulated Exposure: </a:t>
            </a:r>
            <a:r>
              <a:rPr sz="1000">
                <a:solidFill>
                  <a:srgbClr val="475569"/>
                </a:solidFill>
              </a:rPr>
              <a:t>Lack of parental screen-time limits and subject-level curation.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Project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Active Tactile Learning: </a:t>
            </a:r>
            <a:r>
              <a:rPr sz="1000">
                <a:solidFill>
                  <a:srgbClr val="475569"/>
                </a:solidFill>
              </a:rPr>
              <a:t>Replace passive watching with interactive touch-and-learn activities.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Humanized Voice AI: </a:t>
            </a:r>
            <a:r>
              <a:rPr sz="1000">
                <a:solidFill>
                  <a:srgbClr val="475569"/>
                </a:solidFill>
              </a:rPr>
              <a:t>Deliver 9 expressive, pitch-tuned companion voices with audio preview.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Regional Storytelling: </a:t>
            </a:r>
            <a:r>
              <a:rPr sz="1000">
                <a:solidFill>
                  <a:srgbClr val="475569"/>
                </a:solidFill>
              </a:rPr>
              <a:t>Introduce authentic Malayalam moral tales with auto-detected native TTS.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Governance: </a:t>
            </a:r>
            <a:r>
              <a:rPr sz="1000">
                <a:solidFill>
                  <a:srgbClr val="475569"/>
                </a:solidFill>
              </a:rPr>
              <a:t>PIN-restricted daily screen-time budgeting and module toggling.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02 | 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Literature Survey &amp; Academic Prior Art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Analysis of Related EdTech Systems and Identified Research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Existing Research &amp;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Papert's Constructionism: </a:t>
            </a:r>
            <a:r>
              <a:rPr sz="1000">
                <a:solidFill>
                  <a:srgbClr val="475569"/>
                </a:solidFill>
              </a:rPr>
              <a:t>Emphasizes hands-on tactile manipulation for cognitive development.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Kuhl et al. (Neuroscience): </a:t>
            </a:r>
            <a:r>
              <a:rPr sz="1000">
                <a:solidFill>
                  <a:srgbClr val="475569"/>
                </a:solidFill>
              </a:rPr>
              <a:t>Early exposure to native mother-tongues accelerates linguistic mastery.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Duolingo ABC &amp; Khan Kids: </a:t>
            </a:r>
            <a:r>
              <a:rPr sz="1000">
                <a:solidFill>
                  <a:srgbClr val="475569"/>
                </a:solidFill>
              </a:rPr>
              <a:t>Demonstrated the efficacy of bite-sized gamified literacy pathways.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UNESCO Early Literacy: </a:t>
            </a:r>
            <a:r>
              <a:rPr sz="1000">
                <a:solidFill>
                  <a:srgbClr val="475569"/>
                </a:solidFill>
              </a:rPr>
              <a:t>Highlights the critical need for regional storytelling in preschool years.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Methods &amp; Technologies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Gamification Elements: </a:t>
            </a:r>
            <a:r>
              <a:rPr sz="1000">
                <a:solidFill>
                  <a:srgbClr val="475569"/>
                </a:solidFill>
              </a:rPr>
              <a:t>Point scoring, continuous daily streaks, and digital badge achievements.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Standard TTS Engines: </a:t>
            </a:r>
            <a:r>
              <a:rPr sz="1000">
                <a:solidFill>
                  <a:srgbClr val="475569"/>
                </a:solidFill>
              </a:rPr>
              <a:t>Default OS robotic voice synthesis without pitch character tuning.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Video Stream Engines: </a:t>
            </a:r>
            <a:r>
              <a:rPr sz="1000">
                <a:solidFill>
                  <a:srgbClr val="475569"/>
                </a:solidFill>
              </a:rPr>
              <a:t>Continuous pre-rendered cartoon animations streamed over HTTP.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Cloud Dependency: </a:t>
            </a:r>
            <a:r>
              <a:rPr sz="1000">
                <a:solidFill>
                  <a:srgbClr val="475569"/>
                </a:solidFill>
              </a:rPr>
              <a:t>Mandatory continuous internet connectivity for asset rendering.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Research Gaps Identified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Absence of Regional Folk Tales: </a:t>
            </a:r>
            <a:r>
              <a:rPr sz="1000">
                <a:solidFill>
                  <a:srgbClr val="475569"/>
                </a:solidFill>
              </a:rPr>
              <a:t>Global apps ignore indigenous stories like Malayalam moral folklore.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Monotone Voice Delivery: </a:t>
            </a:r>
            <a:r>
              <a:rPr sz="1000">
                <a:solidFill>
                  <a:srgbClr val="475569"/>
                </a:solidFill>
              </a:rPr>
              <a:t>Lack of animated, pitch-modulated companion personas ('wow factors').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Offline Readiness: </a:t>
            </a:r>
            <a:r>
              <a:rPr sz="1000">
                <a:solidFill>
                  <a:srgbClr val="475569"/>
                </a:solidFill>
              </a:rPr>
              <a:t>Current streaming apps fail completely during offline travel.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Missing Parental Locks: </a:t>
            </a:r>
            <a:r>
              <a:rPr sz="1000">
                <a:solidFill>
                  <a:srgbClr val="475569"/>
                </a:solidFill>
              </a:rPr>
              <a:t>No robust PIN barriers or customizable screen-time caps.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03 |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Drawbacks of Existing Systems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Critical Flaws and Challenges in Current Commercial Learning Apps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Limitations of Current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Passive Screen Addiction: </a:t>
            </a:r>
            <a:r>
              <a:rPr sz="1000">
                <a:solidFill>
                  <a:srgbClr val="475569"/>
                </a:solidFill>
              </a:rPr>
              <a:t>Kids stare at endless autoplay reels without making decisions or recalling concepts.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Robotic, Monotone TTS: </a:t>
            </a:r>
            <a:r>
              <a:rPr sz="1000">
                <a:solidFill>
                  <a:srgbClr val="475569"/>
                </a:solidFill>
              </a:rPr>
              <a:t>Generic system voices sound cold, mechanical, and boring to young toddlers.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Western Monolingual Bias: </a:t>
            </a:r>
            <a:r>
              <a:rPr sz="1000">
                <a:solidFill>
                  <a:srgbClr val="475569"/>
                </a:solidFill>
              </a:rPr>
              <a:t>Exclusively Latin/English phonics; completely overlooks Indian regional tongues.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Visual &amp; Auditory Clutter: </a:t>
            </a:r>
            <a:r>
              <a:rPr sz="1000">
                <a:solidFill>
                  <a:srgbClr val="475569"/>
                </a:solidFill>
              </a:rPr>
              <a:t>Overwhelming strobe-like animations that lead to rapid attention fatigue.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Problems &amp; Challenges Identified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Predatory In-App Purchases: </a:t>
            </a:r>
            <a:r>
              <a:rPr sz="1000">
                <a:solidFill>
                  <a:srgbClr val="475569"/>
                </a:solidFill>
              </a:rPr>
              <a:t>Accidental toddler taps trigger recurring subscription traps and pop-ups.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Intrusive Banner Ads: </a:t>
            </a:r>
            <a:r>
              <a:rPr sz="1000">
                <a:solidFill>
                  <a:srgbClr val="475569"/>
                </a:solidFill>
              </a:rPr>
              <a:t>Unvetted advertisements jeopardize child safety and interrupt learning.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No Parental Screen Caps: </a:t>
            </a:r>
            <a:r>
              <a:rPr sz="1000">
                <a:solidFill>
                  <a:srgbClr val="475569"/>
                </a:solidFill>
              </a:rPr>
              <a:t>Parents cannot prevent excessive device usage or lock out distracting games.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High Bandwidth Demands: </a:t>
            </a:r>
            <a:r>
              <a:rPr sz="1000">
                <a:solidFill>
                  <a:srgbClr val="475569"/>
                </a:solidFill>
              </a:rPr>
              <a:t>Constant buffering, high data consumption, and failure in offline zones.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04 | 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Proposed System: JAROOS Solution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A Child-Centric, Multi-Sensory, and Offline-First Ecosystem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Overview of Proposed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All-in-One Early Learning: </a:t>
            </a:r>
            <a:r>
              <a:rPr sz="1000">
                <a:solidFill>
                  <a:srgbClr val="475569"/>
                </a:solidFill>
              </a:rPr>
              <a:t>Covers Alphabet, Numbers, Colors, Shapes, Animals, Fruits, Rhymes, Stories.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Multi-Companion Voice AI: </a:t>
            </a:r>
            <a:r>
              <a:rPr sz="1000">
                <a:solidFill>
                  <a:srgbClr val="475569"/>
                </a:solidFill>
              </a:rPr>
              <a:t>9 distinct selectable companions (Sparky, Dora, Unni, Meenu, etc.).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Dual-Language Bedtime Stories: </a:t>
            </a:r>
            <a:r>
              <a:rPr sz="1000">
                <a:solidFill>
                  <a:srgbClr val="475569"/>
                </a:solidFill>
              </a:rPr>
              <a:t>6 classic English + 6 authentic Malayalam tales with 'Read to Me 🔊'.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Security Shield: </a:t>
            </a:r>
            <a:r>
              <a:rPr sz="1000">
                <a:solidFill>
                  <a:srgbClr val="475569"/>
                </a:solidFill>
              </a:rPr>
              <a:t>PIN-secured dashboard with screen-time limits and module switches.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How It Solves Existing Flaws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Active Over Passive: </a:t>
            </a:r>
            <a:r>
              <a:rPr sz="1000">
                <a:solidFill>
                  <a:srgbClr val="475569"/>
                </a:solidFill>
              </a:rPr>
              <a:t>Requires physical card taps and interactive choices to trigger rewards.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Humanized Emotion: </a:t>
            </a:r>
            <a:r>
              <a:rPr sz="1000">
                <a:solidFill>
                  <a:srgbClr val="475569"/>
                </a:solidFill>
              </a:rPr>
              <a:t>Pitch-modulated voices with cheerful encouragement replace robotic monotone.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Cultural Grounding: </a:t>
            </a:r>
            <a:r>
              <a:rPr sz="1000">
                <a:solidFill>
                  <a:srgbClr val="475569"/>
                </a:solidFill>
              </a:rPr>
              <a:t>Native Malayalam storytelling preserved with clean English UI navigation.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Control: </a:t>
            </a:r>
            <a:r>
              <a:rPr sz="1000">
                <a:solidFill>
                  <a:srgbClr val="475569"/>
                </a:solidFill>
              </a:rPr>
              <a:t>Enforces healthy digital screen habits through automatic session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Key Advantages of JAROOS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100% Ad-Free &amp; Safe: </a:t>
            </a:r>
            <a:r>
              <a:rPr sz="1000">
                <a:solidFill>
                  <a:srgbClr val="475569"/>
                </a:solidFill>
              </a:rPr>
              <a:t>Zero advertisements, zero analytics tracking, and zero hidden payments.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Full Offline Functionality: </a:t>
            </a:r>
            <a:r>
              <a:rPr sz="1000">
                <a:solidFill>
                  <a:srgbClr val="475569"/>
                </a:solidFill>
              </a:rPr>
              <a:t>Entire 54.89 MB app executes locally with zero network latency.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Adaptive TTS Switching: </a:t>
            </a:r>
            <a:r>
              <a:rPr sz="1000">
                <a:solidFill>
                  <a:srgbClr val="475569"/>
                </a:solidFill>
              </a:rPr>
              <a:t>Automatically switches to native ml-IN voice when reading Malayalam.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Seamless Performance: </a:t>
            </a:r>
            <a:r>
              <a:rPr sz="1000">
                <a:solidFill>
                  <a:srgbClr val="475569"/>
                </a:solidFill>
              </a:rPr>
              <a:t>Fluid 60–120 FPS animations on phones and tablets.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05 |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Technology Stack &amp; Frameworks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Core Architectural Tools, Libraries, and Execution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505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199339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Front-End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1993392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Flutter 3.x: </a:t>
            </a:r>
            <a:r>
              <a:rPr sz="1000">
                <a:solidFill>
                  <a:srgbClr val="475569"/>
                </a:solidFill>
              </a:rPr>
              <a:t>Reactive UI toolkit compiling to native ARM machine code.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Dart Language: </a:t>
            </a:r>
            <a:r>
              <a:rPr sz="1000">
                <a:solidFill>
                  <a:srgbClr val="475569"/>
                </a:solidFill>
              </a:rPr>
              <a:t>Type-safe, null-safe language optimized for 60–120 FPS.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Material 3: </a:t>
            </a:r>
            <a:r>
              <a:rPr sz="1000">
                <a:solidFill>
                  <a:srgbClr val="475569"/>
                </a:solidFill>
              </a:rPr>
              <a:t>Modern, child-friendly design system with soft shadows.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Google Fonts: </a:t>
            </a:r>
            <a:r>
              <a:rPr sz="1000">
                <a:solidFill>
                  <a:srgbClr val="475569"/>
                </a:solidFill>
              </a:rPr>
              <a:t>Fredoka &amp; Nunito for high pre-literacy legibility.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3864" y="1645920"/>
            <a:ext cx="24505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12464" y="1828800"/>
            <a:ext cx="199339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State &amp;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2464" y="2331720"/>
            <a:ext cx="1993392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Provider Pattern: </a:t>
            </a:r>
            <a:r>
              <a:rPr sz="1000">
                <a:solidFill>
                  <a:srgbClr val="475569"/>
                </a:solidFill>
              </a:rPr>
              <a:t>Decoupled state management using ChangeNotifier.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Modular Providers: </a:t>
            </a:r>
            <a:r>
              <a:rPr sz="1000">
                <a:solidFill>
                  <a:srgbClr val="475569"/>
                </a:solidFill>
              </a:rPr>
              <a:t>LearningProvider, ParentProvider, AudioProvider.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Scoped Rebuilds: </a:t>
            </a:r>
            <a:r>
              <a:rPr sz="1000">
                <a:solidFill>
                  <a:srgbClr val="475569"/>
                </a:solidFill>
              </a:rPr>
              <a:t>Isolates UI updates to eliminate memory bloat.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MVVM Pattern: </a:t>
            </a:r>
            <a:r>
              <a:rPr sz="1000">
                <a:solidFill>
                  <a:srgbClr val="475569"/>
                </a:solidFill>
              </a:rPr>
              <a:t>Clean separation of presentation, state, and services.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645920"/>
            <a:ext cx="24505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64808" y="1828800"/>
            <a:ext cx="199339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Audio &amp; Voice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331720"/>
            <a:ext cx="1993392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flutter_tts: </a:t>
            </a:r>
            <a:r>
              <a:rPr sz="1000">
                <a:solidFill>
                  <a:srgbClr val="475569"/>
                </a:solidFill>
              </a:rPr>
              <a:t>Native Android TextToSpeech engine integration.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Dynamic Pitch/Rate: </a:t>
            </a:r>
            <a:r>
              <a:rPr sz="1000">
                <a:solidFill>
                  <a:srgbClr val="475569"/>
                </a:solidFill>
              </a:rPr>
              <a:t>Pitches 0.92–1.34; speech rates 0.42–0.49.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audioplayers: </a:t>
            </a:r>
            <a:r>
              <a:rPr sz="1000">
                <a:solidFill>
                  <a:srgbClr val="475569"/>
                </a:solidFill>
              </a:rPr>
              <a:t>Asynchronous tactile chimes and celebration fanfares.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Bilingual Routing: </a:t>
            </a:r>
            <a:r>
              <a:rPr sz="1000">
                <a:solidFill>
                  <a:srgbClr val="475569"/>
                </a:solidFill>
              </a:rPr>
              <a:t>Instant switching between en-US and ml-IN.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8552" y="1645920"/>
            <a:ext cx="24505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17152" y="1828800"/>
            <a:ext cx="199339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Storage &amp;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2331720"/>
            <a:ext cx="1993392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shared_preferences: </a:t>
            </a:r>
            <a:r>
              <a:rPr sz="1000">
                <a:solidFill>
                  <a:srgbClr val="475569"/>
                </a:solidFill>
              </a:rPr>
              <a:t>Local key-value and structured cache engine.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Cloud Overhead: </a:t>
            </a:r>
            <a:r>
              <a:rPr sz="1000">
                <a:solidFill>
                  <a:srgbClr val="475569"/>
                </a:solidFill>
              </a:rPr>
              <a:t>Fast atomic local reads/writes without internet.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Dual-Flavor Gradle: </a:t>
            </a:r>
            <a:r>
              <a:rPr sz="1000">
                <a:solidFill>
                  <a:srgbClr val="475569"/>
                </a:solidFill>
              </a:rPr>
              <a:t>Builds standalone Global and Testing release APKs.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Android OS Support: </a:t>
            </a:r>
            <a:r>
              <a:rPr sz="1000">
                <a:solidFill>
                  <a:srgbClr val="475569"/>
                </a:solidFill>
              </a:rPr>
              <a:t>Compatible with Android 5.0+ (API 21 to 34).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06 | 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 &amp; Process Flow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4-Tier Layered Framework and End-to-End Learning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System Architectural Design (4 Tiers)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4F46E5"/>
                </a:solidFill>
              </a:rPr>
              <a:t>Tier 1: Presentation Layer
</a:t>
            </a:r>
            <a:r>
              <a:rPr sz="1000">
                <a:solidFill>
                  <a:srgbClr val="475569"/>
                </a:solidFill>
              </a:rPr>
              <a:t>Navigation Shell, Early Learning Modules, Bedtime Stories Reader, Parent Dashboard.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4F46E5"/>
                </a:solidFill>
              </a:rPr>
              <a:t>Tier 2: Business Logic &amp; State
</a:t>
            </a:r>
            <a:r>
              <a:rPr sz="1000">
                <a:solidFill>
                  <a:srgbClr val="475569"/>
                </a:solidFill>
              </a:rPr>
              <a:t>LearningProvider (curriculum state), ParentProvider (PIN &amp; screen time), GamificationEngine.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4F46E5"/>
                </a:solidFill>
              </a:rPr>
              <a:t>Tier 3: Service Abstraction Layer
</a:t>
            </a:r>
            <a:r>
              <a:rPr sz="1000">
                <a:solidFill>
                  <a:srgbClr val="475569"/>
                </a:solidFill>
              </a:rPr>
              <a:t>ModularTtsService (voice personas &amp; script detection), SoundFxService (chimes), StorageService.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4F46E5"/>
                </a:solidFill>
              </a:rPr>
              <a:t>Tier 4: Native Platform Layer
</a:t>
            </a:r>
            <a:r>
              <a:rPr sz="1000">
                <a:solidFill>
                  <a:srgbClr val="475569"/>
                </a:solidFill>
              </a:rPr>
              <a:t>Android OS, Native TTS Engine (Google Speech Services), Flash Storage (SharedPrefs XML).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Workflow &amp; Process Flow Diagram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1: Module Selection: </a:t>
            </a:r>
            <a:r>
              <a:rPr sz="1000">
                <a:solidFill>
                  <a:srgbClr val="475569"/>
                </a:solidFill>
              </a:rPr>
              <a:t>Child selects Alphabet, Numbers, Animals, or Stories from dashboard.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2: Interactive Touch: </a:t>
            </a:r>
            <a:r>
              <a:rPr sz="1000">
                <a:solidFill>
                  <a:srgbClr val="475569"/>
                </a:solidFill>
              </a:rPr>
              <a:t>Child taps card; tactile chime sound effect triggers instantly.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3: Speech Synthesis: </a:t>
            </a:r>
            <a:r>
              <a:rPr sz="1000">
                <a:solidFill>
                  <a:srgbClr val="475569"/>
                </a:solidFill>
              </a:rPr>
              <a:t>TTS speaks pronunciation using active companion (e.g. Sparky or Unni).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4: Gamified Reward: </a:t>
            </a:r>
            <a:r>
              <a:rPr sz="1000">
                <a:solidFill>
                  <a:srgbClr val="475569"/>
                </a:solidFill>
              </a:rPr>
              <a:t>Engine awards +10 XP and +5 Coins; evaluates daily streak multiplier.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5: Milestone Celebration: </a:t>
            </a:r>
            <a:r>
              <a:rPr sz="1000">
                <a:solidFill>
                  <a:srgbClr val="475569"/>
                </a:solidFill>
              </a:rPr>
              <a:t>Confetti animation pops up on leveling up; unlocks Trophy Room badge.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6: Parent Gate Security: </a:t>
            </a:r>
            <a:r>
              <a:rPr sz="1000">
                <a:solidFill>
                  <a:srgbClr val="475569"/>
                </a:solidFill>
              </a:rPr>
              <a:t>PIN challenge (1234) prevents unauthorized access to parent dashboard.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25908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06 | DFD LEVEL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"/>
            <a:ext cx="10728655" cy="38472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Data Flow Diagram: Level 0 (Context Level)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70432"/>
            <a:ext cx="10728655" cy="5138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E1ED7FF-7640-BCD7-D7D6-C7D8545EA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115" y="1352331"/>
            <a:ext cx="9885045" cy="47751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24384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06 | DFD LEVEL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9872"/>
            <a:ext cx="10728655" cy="38472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Data Flow Diagram: Level 1 (Process Decomposition)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482C07-60D0-EDDE-AE38-733DB8DBA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5904"/>
            <a:ext cx="11734800" cy="59721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07 | DATA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Dataset &amp; Database Entity Schema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Embedded NoSQL Architecture, Collections, and Attributes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Dataset Scope &amp;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Dataset Source: </a:t>
            </a:r>
            <a:r>
              <a:rPr sz="1000">
                <a:solidFill>
                  <a:srgbClr val="475569"/>
                </a:solidFill>
              </a:rPr>
              <a:t>Curated pedagogical phonics, numbering assets, animal vocatives, and folklore.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Dataset Scale: </a:t>
            </a:r>
            <a:r>
              <a:rPr sz="1000">
                <a:solidFill>
                  <a:srgbClr val="475569"/>
                </a:solidFill>
              </a:rPr>
              <a:t>26 Alphabet phonics, 20 Numbers, 12 Animals, 12 Fruits/Veggies, 12 Bedtime Stories.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Story Content: </a:t>
            </a:r>
            <a:r>
              <a:rPr sz="1000">
                <a:solidFill>
                  <a:srgbClr val="475569"/>
                </a:solidFill>
              </a:rPr>
              <a:t>6 English classic fables + 6 authentic Malayalam moral folklore stories.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Voice Persona Catalog: </a:t>
            </a:r>
            <a:r>
              <a:rPr sz="1000">
                <a:solidFill>
                  <a:srgbClr val="475569"/>
                </a:solidFill>
              </a:rPr>
              <a:t>9 distinct acoustic profiles with pitch, rate, and preview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Database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Database Engine: </a:t>
            </a:r>
            <a:r>
              <a:rPr sz="1000">
                <a:solidFill>
                  <a:srgbClr val="475569"/>
                </a:solidFill>
              </a:rPr>
              <a:t>Embedded lightweight NoSQL key-value store via SharedPreferences.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Cloud Overhead: </a:t>
            </a:r>
            <a:r>
              <a:rPr sz="1000">
                <a:solidFill>
                  <a:srgbClr val="475569"/>
                </a:solidFill>
              </a:rPr>
              <a:t>Fast local reads/writes with zero cloud sync delays or costs.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Persistence Guarantees: </a:t>
            </a:r>
            <a:r>
              <a:rPr sz="1000">
                <a:solidFill>
                  <a:srgbClr val="475569"/>
                </a:solidFill>
              </a:rPr>
              <a:t>Auto-saves child level, coins, completed lessons, and parent PIN.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Data Privacy: </a:t>
            </a:r>
            <a:r>
              <a:rPr sz="1000">
                <a:solidFill>
                  <a:srgbClr val="475569"/>
                </a:solidFill>
              </a:rPr>
              <a:t>100% stored on-device; no data leaves the physical handset.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Entities &amp; Purpose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LearningModule Model: </a:t>
            </a:r>
            <a:r>
              <a:rPr sz="1000">
                <a:solidFill>
                  <a:srgbClr val="475569"/>
                </a:solidFill>
              </a:rPr>
              <a:t>id, title, category, progress (0.0–1.0), isCompleted, isEnabled.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VoicePersona Model: </a:t>
            </a:r>
            <a:r>
              <a:rPr sz="1000">
                <a:solidFill>
                  <a:srgbClr val="475569"/>
                </a:solidFill>
              </a:rPr>
              <a:t>id, name, avatarEmoji, pitch (0.92–1.34), speechRate, languageCode.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StoryItem Model: </a:t>
            </a:r>
            <a:r>
              <a:rPr sz="1000">
                <a:solidFill>
                  <a:srgbClr val="475569"/>
                </a:solidFill>
              </a:rPr>
              <a:t>title, emoji, moral, duration, paragraphs, language ('en' | 'ml').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ParentSettings &amp; Profile: </a:t>
            </a:r>
            <a:r>
              <a:rPr sz="1000">
                <a:solidFill>
                  <a:srgbClr val="475569"/>
                </a:solidFill>
              </a:rPr>
              <a:t>parentPin, dailyTimeLimitMinutes, todayScreenTime, totalXp, coins, streak.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08 |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Proposed Method, Algorithms &amp; Modules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Core Functional Modules and Real-Time Execution Algorithms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Major Modules &amp;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Early Learning Suite: </a:t>
            </a:r>
            <a:r>
              <a:rPr sz="1000">
                <a:solidFill>
                  <a:srgbClr val="475569"/>
                </a:solidFill>
              </a:rPr>
              <a:t>Alphabet phonics, Number counting 1–20, Colors &amp; Shapes Studio.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Media &amp; Culture Hub: </a:t>
            </a:r>
            <a:r>
              <a:rPr sz="1000">
                <a:solidFill>
                  <a:srgbClr val="475569"/>
                </a:solidFill>
              </a:rPr>
              <a:t>Wildlife Safari, Fruits &amp; Veggies, Musical Fun Rhymes player.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Bedtime Stories Reader: </a:t>
            </a:r>
            <a:r>
              <a:rPr sz="1000">
                <a:solidFill>
                  <a:srgbClr val="475569"/>
                </a:solidFill>
              </a:rPr>
              <a:t>12 moral stories with 1-tap language filtering and 'Read to Me 🔊'.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Control Shield: </a:t>
            </a:r>
            <a:r>
              <a:rPr sz="1000">
                <a:solidFill>
                  <a:srgbClr val="475569"/>
                </a:solidFill>
              </a:rPr>
              <a:t>PIN gate, screen-time limiter (15–60 min), and subject toggles.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Algorithm 1: Script-Aware TTS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1 (Input): </a:t>
            </a:r>
            <a:r>
              <a:rPr sz="1000">
                <a:solidFill>
                  <a:srgbClr val="475569"/>
                </a:solidFill>
              </a:rPr>
              <a:t>Ingest text payload into ModularTtsService.speak(text).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2 (Regex Match): </a:t>
            </a:r>
            <a:r>
              <a:rPr sz="1000">
                <a:solidFill>
                  <a:srgbClr val="475569"/>
                </a:solidFill>
              </a:rPr>
              <a:t>Inspect text for Malayalam unicode range [\u0D00-\u0D7F].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3 (Branch A): </a:t>
            </a:r>
            <a:r>
              <a:rPr sz="1000">
                <a:solidFill>
                  <a:srgbClr val="475569"/>
                </a:solidFill>
              </a:rPr>
              <a:t>If Malayalam, set language to 'ml-IN', pitch to 1.24, rate to 0.42.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4 (Branch B): </a:t>
            </a:r>
            <a:r>
              <a:rPr sz="1000">
                <a:solidFill>
                  <a:srgbClr val="475569"/>
                </a:solidFill>
              </a:rPr>
              <a:t>If English, apply selected companion (e.g. Sparky pitch=1.34).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5 (Restore): </a:t>
            </a:r>
            <a:r>
              <a:rPr sz="1000">
                <a:solidFill>
                  <a:srgbClr val="475569"/>
                </a:solidFill>
              </a:rPr>
              <a:t>Restore active companion profile immediately after utterance.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Algorithm 2: Gamification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1 (Base Reward): </a:t>
            </a:r>
            <a:r>
              <a:rPr sz="1000">
                <a:solidFill>
                  <a:srgbClr val="475569"/>
                </a:solidFill>
              </a:rPr>
              <a:t>Award +10 XP and +5 Coins on each module activity completion.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2 (Streak Multiplier): </a:t>
            </a:r>
            <a:r>
              <a:rPr sz="1000">
                <a:solidFill>
                  <a:srgbClr val="475569"/>
                </a:solidFill>
              </a:rPr>
              <a:t>Apply multiplier: min(1.0 + streakDays * 0.1, 2.0).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3 (Level Check): </a:t>
            </a:r>
            <a:r>
              <a:rPr sz="1000">
                <a:solidFill>
                  <a:srgbClr val="475569"/>
                </a:solidFill>
              </a:rPr>
              <a:t>If totalXp &gt;= Level * 100, trigger level-up celebration.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4 (Badge Evaluator): </a:t>
            </a:r>
            <a:r>
              <a:rPr sz="1000">
                <a:solidFill>
                  <a:srgbClr val="475569"/>
                </a:solidFill>
              </a:rPr>
              <a:t>Evaluate trophy criteria and unlock achievement badges.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5 (Persistence): </a:t>
            </a:r>
            <a:r>
              <a:rPr sz="1000">
                <a:solidFill>
                  <a:srgbClr val="475569"/>
                </a:solidFill>
              </a:rPr>
              <a:t>Commit updated stats to local SharedPreferences.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09 |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Results, Performance &amp; UI Showcase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Verification Metrics, Automated Test Results, and Important UI Screens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Implementation &amp; Quality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Automated Test Suite: </a:t>
            </a:r>
            <a:r>
              <a:rPr sz="1000">
                <a:solidFill>
                  <a:srgbClr val="475569"/>
                </a:solidFill>
              </a:rPr>
              <a:t>55/55 tests passed cleanly (100% pass rate) across all modules.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Rendering Performance: </a:t>
            </a:r>
            <a:r>
              <a:rPr sz="1000">
                <a:solidFill>
                  <a:srgbClr val="475569"/>
                </a:solidFill>
              </a:rPr>
              <a:t>Smooth 60–120 FPS execution with zero dropped frames or janks.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Audio Latency: </a:t>
            </a:r>
            <a:r>
              <a:rPr sz="1000">
                <a:solidFill>
                  <a:srgbClr val="475569"/>
                </a:solidFill>
              </a:rPr>
              <a:t>Sub-50ms trigger response on tactile card clicks and speech synthesis.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Package Footprint: </a:t>
            </a:r>
            <a:r>
              <a:rPr sz="1000">
                <a:solidFill>
                  <a:srgbClr val="475569"/>
                </a:solidFill>
              </a:rPr>
              <a:t>54.89 MB standalone APK with zero external asset streaming dependencies.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Offline Stability: </a:t>
            </a:r>
            <a:r>
              <a:rPr sz="1000">
                <a:solidFill>
                  <a:srgbClr val="475569"/>
                </a:solidFill>
              </a:rPr>
              <a:t>100% of modules, audio voices, and stories operational in airplane mode.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Important UI Screens &amp; Implementation</a:t>
            </a:r>
          </a:p>
        </p:txBody>
      </p:sp>
      <p:pic>
        <p:nvPicPr>
          <p:cNvPr id="10" name="Picture 9" descr="design_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31720"/>
            <a:ext cx="2331720" cy="3500999"/>
          </a:xfrm>
          <a:prstGeom prst="rect">
            <a:avLst/>
          </a:prstGeom>
        </p:spPr>
      </p:pic>
      <p:pic>
        <p:nvPicPr>
          <p:cNvPr id="11" name="Picture 10" descr="splash_game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2331720"/>
            <a:ext cx="2331720" cy="41776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760720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475569"/>
                </a:solidFill>
              </a:defRPr>
            </a:pPr>
            <a:r>
              <a:t>Visual UI Showcase: Learning Path, Story Reader &amp; Splash Animation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10 |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Conclusion &amp; Future Enhancements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Project Summary, Completed Outcomes, and Technical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Summary of Work 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Interactive Preschool Platform: </a:t>
            </a:r>
            <a:r>
              <a:rPr sz="1000">
                <a:solidFill>
                  <a:srgbClr val="475569"/>
                </a:solidFill>
              </a:rPr>
              <a:t>Successfully created a joyful, multi-sensory educational ecosystem.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Multi-Companion Voice AI: </a:t>
            </a:r>
            <a:r>
              <a:rPr sz="1000">
                <a:solidFill>
                  <a:srgbClr val="475569"/>
                </a:solidFill>
              </a:rPr>
              <a:t>Replaced robotic monotone with 9 pitch-tuned child companion personas.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Regional Heritage Preserved: </a:t>
            </a:r>
            <a:r>
              <a:rPr sz="1000">
                <a:solidFill>
                  <a:srgbClr val="475569"/>
                </a:solidFill>
              </a:rPr>
              <a:t>Integrated authentic Malayalam moral tales with clean English navigation.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Digital Well-Being: </a:t>
            </a:r>
            <a:r>
              <a:rPr sz="1000">
                <a:solidFill>
                  <a:srgbClr val="475569"/>
                </a:solidFill>
              </a:rPr>
              <a:t>Implemented PIN-restricted screen-time caps and curriculum switches.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Achieved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Active Engagement Achieved: </a:t>
            </a:r>
            <a:r>
              <a:rPr sz="1000">
                <a:solidFill>
                  <a:srgbClr val="475569"/>
                </a:solidFill>
              </a:rPr>
              <a:t>Eliminated passive video consumption through interactive touch tasks.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Ad Intrusions: </a:t>
            </a:r>
            <a:r>
              <a:rPr sz="1000">
                <a:solidFill>
                  <a:srgbClr val="475569"/>
                </a:solidFill>
              </a:rPr>
              <a:t>100% ad-free, secure, and privacy-first environment for children.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Internet Dependency: </a:t>
            </a:r>
            <a:r>
              <a:rPr sz="1000">
                <a:solidFill>
                  <a:srgbClr val="475569"/>
                </a:solidFill>
              </a:rPr>
              <a:t>Completely self-contained 54.89 MB APK running offline.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100% Verified Quality: </a:t>
            </a:r>
            <a:r>
              <a:rPr sz="1000">
                <a:solidFill>
                  <a:srgbClr val="475569"/>
                </a:solidFill>
              </a:rPr>
              <a:t>All 55 automated unit/widget tests passing with zero layout overflows.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Future Enhancements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Speech Recognition (STT): </a:t>
            </a:r>
            <a:r>
              <a:rPr sz="1000">
                <a:solidFill>
                  <a:srgbClr val="475569"/>
                </a:solidFill>
              </a:rPr>
              <a:t>Introduce 'Repeat after me' microphone pronunciation assessment.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Adaptive AI Learning Paths: </a:t>
            </a:r>
            <a:r>
              <a:rPr sz="1000">
                <a:solidFill>
                  <a:srgbClr val="475569"/>
                </a:solidFill>
              </a:rPr>
              <a:t>Dynamic question difficulty scaling based on individual error rates.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More Regional Languages: </a:t>
            </a:r>
            <a:r>
              <a:rPr sz="1000">
                <a:solidFill>
                  <a:srgbClr val="475569"/>
                </a:solidFill>
              </a:rPr>
              <a:t>Expand storytelling and voice models to Tamil, Telugu, Kannada, Hindi.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Augmented Reality (AR): </a:t>
            </a:r>
            <a:r>
              <a:rPr sz="1000">
                <a:solidFill>
                  <a:srgbClr val="475569"/>
                </a:solidFill>
              </a:rPr>
              <a:t>Interactive 3D animal models and shapes projected in physical rooms.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11 |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Academic References &amp; Documentation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Scholarly Literature, Pedagogical Studies, and Technical Standards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Research Papers &amp; Pedagogy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Papert &amp; Harel (1991): </a:t>
            </a:r>
            <a:r>
              <a:rPr sz="1000">
                <a:solidFill>
                  <a:srgbClr val="475569"/>
                </a:solidFill>
              </a:rPr>
              <a:t>Constructionism. Ablex Publishing Corporation. (Active child learning).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Resnick, M. (2007): </a:t>
            </a:r>
            <a:r>
              <a:rPr sz="1000">
                <a:solidFill>
                  <a:srgbClr val="475569"/>
                </a:solidFill>
              </a:rPr>
              <a:t>All I Really Need to Know (Kindergarten Expanded). ACM Creativity &amp; Cognition.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Kuhl, P. K. (2018): </a:t>
            </a:r>
            <a:r>
              <a:rPr sz="1000">
                <a:solidFill>
                  <a:srgbClr val="475569"/>
                </a:solidFill>
              </a:rPr>
              <a:t>Early Language Learning &amp; Neuroscience. Mind, Brain &amp; Education, 12(3).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UNESCO Report (2022): </a:t>
            </a:r>
            <a:r>
              <a:rPr sz="1000">
                <a:solidFill>
                  <a:srgbClr val="475569"/>
                </a:solidFill>
              </a:rPr>
              <a:t>Born to Learn: Spotlight on Mother-Tongue Primary Education in South Asia.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EdTech &amp; Gamification 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Deterding et al. (2011): </a:t>
            </a:r>
            <a:r>
              <a:rPr sz="1000">
                <a:solidFill>
                  <a:srgbClr val="475569"/>
                </a:solidFill>
              </a:rPr>
              <a:t>From Game Design Elements to Gamefulness. MindTrek Conference, ACM.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Gee, J. P. (2003): </a:t>
            </a:r>
            <a:r>
              <a:rPr sz="1000">
                <a:solidFill>
                  <a:srgbClr val="475569"/>
                </a:solidFill>
              </a:rPr>
              <a:t>What Video Games Have to Teach Us About Learning and Literacy. Palgrave.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Hirsh-Pasek et al. (2015): </a:t>
            </a:r>
            <a:r>
              <a:rPr sz="1000">
                <a:solidFill>
                  <a:srgbClr val="475569"/>
                </a:solidFill>
              </a:rPr>
              <a:t>Putting Education in 'Educational' Apps: Psychological Science Public Interest.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Technical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Google Flutter Dev (2024): </a:t>
            </a:r>
            <a:r>
              <a:rPr sz="1000">
                <a:solidFill>
                  <a:srgbClr val="475569"/>
                </a:solidFill>
              </a:rPr>
              <a:t>Flutter Architectural Overview &amp; Compilation Docs (https://docs.flutter.dev).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Android Open Source (2024): </a:t>
            </a:r>
            <a:r>
              <a:rPr sz="1000">
                <a:solidFill>
                  <a:srgbClr val="475569"/>
                </a:solidFill>
              </a:rPr>
              <a:t>Android TextToSpeech API Specification (developer.android.com).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Unicode Consortium (2024): </a:t>
            </a:r>
            <a:r>
              <a:rPr sz="1000">
                <a:solidFill>
                  <a:srgbClr val="475569"/>
                </a:solidFill>
              </a:rPr>
              <a:t>Malayalam Unicode Script Block Chart 0D00–0D7F (unicode.org).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2576</Words>
  <Application>Microsoft Office PowerPoint</Application>
  <PresentationFormat>Widescreen</PresentationFormat>
  <Paragraphs>222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Sooraj S</cp:lastModifiedBy>
  <cp:revision>2</cp:revision>
  <dcterms:created xsi:type="dcterms:W3CDTF">2013-01-27T09:14:16Z</dcterms:created>
  <dcterms:modified xsi:type="dcterms:W3CDTF">2026-09-15T10:32:55Z</dcterms:modified>
  <cp:category/>
</cp:coreProperties>
</file>