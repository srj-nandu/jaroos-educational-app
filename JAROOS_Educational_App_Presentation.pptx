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312E8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</a:defRPr>
            </a:pPr>
            <a:r>
              <a:t>JAROOS: Interactive Multi-Sensory Educational Platform</a:t>
            </a:r>
          </a:p>
          <a:p>
            <a:pPr>
              <a:spcBef>
                <a:spcPts val="800"/>
              </a:spcBef>
              <a:defRPr sz="1600">
                <a:solidFill>
                  <a:srgbClr val="C7D2FE"/>
                </a:solidFill>
              </a:defRPr>
            </a:pPr>
            <a:r>
              <a:t>Gamified Early Childhood Learning with Adaptive Multi-Companion Voice AI &amp; Regional Storytelling</a:t>
            </a:r>
          </a:p>
          <a:p>
            <a:pPr>
              <a:spcBef>
                <a:spcPts val="2000"/>
              </a:spcBef>
              <a:defRPr sz="1200">
                <a:solidFill>
                  <a:srgbClr val="FDE68A"/>
                </a:solidFill>
              </a:defRPr>
            </a:pPr>
            <a:r>
              <a:t>Domain: Mobile Learning (m-Learning) | EdTech | Humanized Speech AI | Child-Computer Interaction (CCI)</a:t>
            </a:r>
          </a:p>
          <a:p>
            <a:pPr>
              <a:spcBef>
                <a:spcPts val="2400"/>
              </a:spcBef>
              <a:defRPr sz="1200" b="1">
                <a:solidFill>
                  <a:srgbClr val="A7F3D0"/>
                </a:solidFill>
              </a:defRPr>
            </a:pPr>
            <a:r>
              <a:t>Offline-First Architecture  •  9 Multi-Companion Voices  •  Malayalam Bedtime Stories  •  Parental Screen-Time Gate  •  Zero Ads &amp; 100% Safe</a:t>
            </a:r>
          </a:p>
          <a:p>
            <a:pPr>
              <a:spcBef>
                <a:spcPts val="3600"/>
              </a:spcBef>
              <a:defRPr sz="1100">
                <a:solidFill>
                  <a:srgbClr val="CBD5E1"/>
                </a:solidFill>
              </a:defRPr>
            </a:pPr>
            <a:r>
              <a:t>Technical Project Presentation &amp; System Architecture Document</a:t>
            </a:r>
            <a:br/>
            <a:r>
              <a:t>Version: 1.1.0-Global | Flutter &amp; Dart Native Mobile Application</a:t>
            </a:r>
          </a:p>
        </p:txBody>
      </p:sp>
      <p:pic>
        <p:nvPicPr>
          <p:cNvPr id="5" name="Picture 4" descr="app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11887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Presentation Table of Contents &amp; Structure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Overview of the 11 Required Comprehensive Sections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01. Introduction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Problem context, mission, and scope of early child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257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9631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02. Literature Survey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Review of existing m-learning frameworks &amp; academic gaps.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5257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1927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03. Drawbacks of Existing System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Passive viewing, robotic TTS, lack of regional folklore &amp; ad traps.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57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04. Proposed System (JAROOS)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Interactive gamification, multi-companion voice AI &amp; offline readiness.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92040"/>
            <a:ext cx="5257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6519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05. Technologies Used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Flutter, Dart, Provider, Flutter_TTS, AudioPlayers &amp; SharedPreferences.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15000"/>
            <a:ext cx="5257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78815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06. Architectural &amp; Process Flow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4-tier architecture, DFD diagrams, Story auto-detection &amp; Parent 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257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7335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07. Dataset &amp; Database Description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Local NoSQL data models, VoicePersona, StoryItem &amp; Game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423160"/>
            <a:ext cx="5257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49631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08. Proposed Method &amp; Modules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Core learning, Media Hub, Malayalam stories, Quiz &amp; Algorithms.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46120"/>
            <a:ext cx="5257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31927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09. Results &amp; Screenshots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Test validation (55/55 passed), APK metrics &amp; UI design showcase.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069080"/>
            <a:ext cx="5257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14223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10. Conclusion &amp; Enhancements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Pedagogical impact, STT phonics assessment, AI paths &amp; 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892040"/>
            <a:ext cx="5257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965192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F46E5"/>
                </a:solidFill>
              </a:defRPr>
            </a:pPr>
            <a:r>
              <a:t>11. Academic References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Scholarly publications, IEEE/ACM citations &amp; technical standards.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Introduction: The Early Childhood EdTech Landscape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Context, Pedagogical Motivation, and Problem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Context &amp; Pedagogical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1E1B4B"/>
                </a:solidFill>
              </a:rPr>
              <a:t>Early Cognitive Window (Ages 3-8): </a:t>
            </a:r>
            <a:r>
              <a:rPr sz="1050">
                <a:solidFill>
                  <a:srgbClr val="475569"/>
                </a:solidFill>
              </a:rPr>
              <a:t>Crucial formative years where neuroplasticity supports accelerated phonological awareness, number sense, and linguistic identity.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E1B4B"/>
                </a:solidFill>
              </a:rPr>
              <a:t>The Rise of Digital Native Preschoolers: </a:t>
            </a:r>
            <a:r>
              <a:rPr sz="1050">
                <a:solidFill>
                  <a:srgbClr val="475569"/>
                </a:solidFill>
              </a:rPr>
              <a:t>Children interact with touchscreens earlier than physical books, creating an imperative for cognitively wholesome mobile environments.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E1B4B"/>
                </a:solidFill>
              </a:rPr>
              <a:t>Active Recall vs. Passive Video: </a:t>
            </a:r>
            <a:r>
              <a:rPr sz="1050">
                <a:solidFill>
                  <a:srgbClr val="475569"/>
                </a:solidFill>
              </a:rPr>
              <a:t>Studies demonstrate that active engagement (touch, auditory feedback, decision-making) results in 3.5x higher memory retention than passive video streaming.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E1B4B"/>
                </a:solidFill>
              </a:rPr>
              <a:t>Linguistic Diversity &amp; Cultural Inclusivity: </a:t>
            </a:r>
            <a:r>
              <a:rPr sz="1050">
                <a:solidFill>
                  <a:srgbClr val="475569"/>
                </a:solidFill>
              </a:rPr>
              <a:t>Preschoolers thrive when early literacy bridges their mother tongue (e.g., Malayalam regional folklore) alongside global English literacy.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Project Objectives &amp; Scope of JAROOS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1E1B4B"/>
                </a:solidFill>
              </a:rPr>
              <a:t>Multi-Sensory Early Curriculum: </a:t>
            </a:r>
            <a:r>
              <a:rPr sz="1050">
                <a:solidFill>
                  <a:srgbClr val="475569"/>
                </a:solidFill>
              </a:rPr>
              <a:t>Holistic coverage of Alphabets, Numbers 1-20, Colors, Geometry Shapes, Wildlife/Fauna, Fruits/Vegetables, and Musical Rhymes.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B4B"/>
                </a:solidFill>
              </a:rPr>
              <a:t>Humanized Companion Voice AI: </a:t>
            </a:r>
            <a:r>
              <a:rPr sz="1050">
                <a:solidFill>
                  <a:srgbClr val="475569"/>
                </a:solidFill>
              </a:rPr>
              <a:t>Eliminate monotone robotic synthesis by introducing pitch-modulated, enthusiastic companion personas (Sparky, Dora, Lily, Leo, etc.).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B4B"/>
                </a:solidFill>
              </a:rPr>
              <a:t>Native Malayalam Bedtime Stories: </a:t>
            </a:r>
            <a:r>
              <a:rPr sz="1050">
                <a:solidFill>
                  <a:srgbClr val="475569"/>
                </a:solidFill>
              </a:rPr>
              <a:t>Preserve indigenous folklore (Aamayum Muyalum, Budhimanaaya Kaakka) with native ml-IN narration and moral lessons without changing English UI.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B4B"/>
                </a:solidFill>
              </a:rPr>
              <a:t>Granular Parental Governance: </a:t>
            </a:r>
            <a:r>
              <a:rPr sz="1050">
                <a:solidFill>
                  <a:srgbClr val="475569"/>
                </a:solidFill>
              </a:rPr>
              <a:t>PIN-secured Parent Gate providing daily screen-time caps, subject-level toggling, and audio companion configuration.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1E1B4B"/>
                </a:solidFill>
              </a:rPr>
              <a:t>Safe, Ad-Free &amp; Offline-First: </a:t>
            </a:r>
            <a:r>
              <a:rPr sz="1050">
                <a:solidFill>
                  <a:srgbClr val="475569"/>
                </a:solidFill>
              </a:rPr>
              <a:t>Zero third-party trackers, zero advertising banners, and 100% functionality without internet connectivity.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Literature Survey: Review of Related Systems &amp; Academic Work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Comparative Analysis of Contemporary Mobile Learning Frameworks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560320"/>
                <a:gridCol w="3291840"/>
                <a:gridCol w="2773375"/>
              </a:tblGrid>
              <a:tr h="93268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Author / System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Domain / Focus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Identified Research Gap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Papert &amp; Harel (1991) / Resnick (2007)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Constructionist Learning Theory in Digital 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Emphasizes learner-driven play, interactive artifacts, and immediate auditory/visual feedback loops.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Lacks mobile handheld optimization and automated multilingual speech companions.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Duolingo ABC / Khan Academy Kids (2020-2023)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Early Literacy &amp; Phonics Gamification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Structured phonemic pathways with XP, badges, and cartoon guides.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Monolingual Western bias; completely lacks Indian regional languages (e.g. Malayalam) and bedtime story narration.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YouTube Kids / Video Platforms (2019-2024)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Media Streaming for Preschoolers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Vast catalog of cartoon rhymes and audio-visual animation.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High cognitive passivity, severe addiction traps, algorithm unpredictability, and zero active recall assessment.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Kuhl et al. (2018) / UNESCO Literacy Report (2022)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Mother-Tongue &amp; Multilingual Cognitive Development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Early exposure to native language storytelling accelerates phonological syntax and moral reasoning.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Contemporary EdTech rarely pairs clean English navigation with regional narrative folklore.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Drawbacks of Existing Systems &amp; Problem Analysis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Why Current Commercial Educational Applications Fall Short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11D48"/>
                </a:solidFill>
              </a:defRPr>
            </a:pPr>
            <a:r>
              <a:t>1. Cognitive Passivity &amp; Screen Addiction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Apps rely heavily on continuous autoplay videos (e.g., automated nursery rhyme reels). Children stare passively without physical or intellectual interaction, retarding motor skills and critical thinking.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2. Robotic, Monotonous Text-to-Speech (TTS)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Standard mobile apps utilize default OS robotic TTS engines that lack vocal variety, child-pitched enthusiasm, animated 'wow factors', or selectable storytelling companion personas.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3. Neglect of Regional Languages &amp; Indigenous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Existing global apps (ABCmouse, Lingokids) exclusively target Latin/English phonics. Indian regional folklore (Malayalam Panchatantra/Jataka tales) is virtually non-existent in interactive app stores.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4. Commercial Exploitation &amp; Aggressive 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8055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Frequent video ad interruptions, unvetted algorithmic suggestions, pop-up banners, and deceptive in-app subscription locks exploit young children and jeopardize their digital privacy.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77639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1B4B"/>
                </a:solidFill>
              </a:defRPr>
            </a:pPr>
            <a:r>
              <a:t>5. Absence of Comprehensive Parental Oversight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8055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Most apps lack customizable daily time limits, PIN gates, or the ability for parents to turn off distractors and curate specific modules suitable for their child's current development stage.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77639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75569"/>
                </a:solidFill>
              </a:defRPr>
            </a:pPr>
            <a:r>
              <a:t>6. Cloud Dependency &amp; High Network Overhead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448055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Mandatory high-bandwidth data streaming causes stuttering, buffering, and app crashes in tier-2/tier-3 regions and during offline travel.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Proposed System: JAROOS Educational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 Child-Centric, Multi-Sensory, Gamified Ecosystem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8404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1B4B"/>
                </a:solidFill>
              </a:defRPr>
            </a:pPr>
            <a:r>
              <a:t>JAROOS Core Vision &amp; Pillars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>
                <a:solidFill>
                  <a:srgbClr val="475569"/>
                </a:solidFill>
              </a:defRPr>
            </a:pPr>
            <a:r>
              <a:t>JAROOS resolves existing EdTech limitations by establishing an integrated, offline-first mobile environment that harmonizes interactive learning, voice AI, regional culture, and child safety.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Active Tactile Learning: </a:t>
            </a:r>
            <a:r>
              <a:rPr sz="1000">
                <a:solidFill>
                  <a:srgbClr val="475569"/>
                </a:solidFill>
              </a:rPr>
              <a:t>Every element is interactive with instant auditory-visual reinforcement.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Multi-Companion Voice AI: </a:t>
            </a:r>
            <a:r>
              <a:rPr sz="1000">
                <a:solidFill>
                  <a:srgbClr val="475569"/>
                </a:solidFill>
              </a:rPr>
              <a:t>9 distinct child-friendly voices with animated pitch and cheerful cadence.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Regional Malayalam Folklore: </a:t>
            </a:r>
            <a:r>
              <a:rPr sz="1000">
                <a:solidFill>
                  <a:srgbClr val="475569"/>
                </a:solidFill>
              </a:rPr>
              <a:t>Authentic moral bedtime stories with automatic TTS language detection.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Child Safety &amp; Parent Gate: </a:t>
            </a:r>
            <a:r>
              <a:rPr sz="1000">
                <a:solidFill>
                  <a:srgbClr val="475569"/>
                </a:solidFill>
              </a:rPr>
              <a:t>PIN-restricted parental dashboard with screen-time budgeting.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4F46E5"/>
                </a:solidFill>
              </a:rPr>
              <a:t>• Offline &amp; Zero Ads: </a:t>
            </a:r>
            <a:r>
              <a:rPr sz="1000">
                <a:solidFill>
                  <a:srgbClr val="475569"/>
                </a:solidFill>
              </a:rPr>
              <a:t>Complete zero-ad commitment running entirely on local device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600200"/>
            <a:ext cx="670529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73736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1. Multi-Sensory Curriculum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47672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Phonics (A-Z with visual cues), Numbers (1-20 with item counting), Colors with mixing tips, Geometry Shapes with side counts, Animals with wild sounds, Fruits/Vegetables, and Musical Rhymes.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788920"/>
            <a:ext cx="670529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926079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2. Adaptive Voice Persona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136391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Offers 6 English companions (Sparky, Dora Explorer, Sweet Lily, Leo Explorer, Teacher Emma, Robo-Bot) and 3 Malayalam voices (Unni, Meenu, Appu) with instant live preview.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977639"/>
            <a:ext cx="670529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11480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3. Bedtime Stories with Auto-TTS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325112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6 English classic fables and 6 authentic Malayalam tales. Smart unicode detection (U+0D00 to U+0D7F) dynamically activates native ml-IN narration without altering the clean English app UI.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5166360"/>
            <a:ext cx="670529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5303520"/>
            <a:ext cx="6339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11D48"/>
                </a:solidFill>
              </a:defRPr>
            </a:pPr>
            <a:r>
              <a:t>4. Comprehensive Gamification &amp; Parent Shield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513832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XP leveling, streak counter, coin rewards, celebration dialogs, and unlockable achievement trophies. Protected by a Parent Gate PIN dialog with screen-time shutdown.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Technology Stack &amp; Engineering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Core Frameworks, Libraries, and Platform Integrations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Flutter 3.x / Dart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E1B4B"/>
                </a:solidFill>
              </a:defRPr>
            </a:pPr>
            <a:r>
              <a:t>Frontend &amp; Native Cross-Platform UI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High-performance reactive rendering engine compiled directly to native ARM64/x86_64 machine code. Ensures fluid 60-120 FPS animations, responsive layouts across phone and tablet screens, and zero jank.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Provider State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57400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E1B4B"/>
                </a:solidFill>
              </a:defRPr>
            </a:pPr>
            <a:r>
              <a:t>Reactive MVVM / Scoped Logic Pattern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Decouples UI widgets from business logic via ChangeNotifier. Manages LearningProvider, ParentProvider, and Audio state with isolated rebuild scopes for optimal memory efficiency.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Flutter_TTS (Native Speech Engine)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057400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E1B4B"/>
                </a:solidFill>
              </a:defRPr>
            </a:pPr>
            <a:r>
              <a:t>Speech Synthesis &amp; Multi-Voice Engine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Direct low-latency bridge to Android TextToSpeech APIs. Facilitates dynamic pitch control (0.92 to 1.34), speech rate modulation (0.42 to 0.49), and language switching (en-US, ml-IN).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11D48"/>
                </a:solidFill>
              </a:defRPr>
            </a:pPr>
            <a:r>
              <a:t>AudioPlayers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E1B4B"/>
                </a:solidFill>
              </a:defRPr>
            </a:pPr>
            <a:r>
              <a:t>Sound FX &amp; Interactive Chimes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Asynchronous audio controller for tactile chimes, correct answer celebration fanfares, module click audio, and musical rhymes playback without blocking the main UI thread.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77639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1B4B"/>
                </a:solidFill>
              </a:defRPr>
            </a:pPr>
            <a:r>
              <a:t>SharedPreferences &amp; File I/O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34840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E1B4B"/>
                </a:solidFill>
              </a:defRPr>
            </a:pPr>
            <a:r>
              <a:t>Offline Persistence &amp; Data Storage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Local key-value and structured cache engine storing child progress, coins, stars, streak data, parental PIN, and voice preferences with instant read/write latency.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77639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75569"/>
                </a:solidFill>
              </a:defRPr>
            </a:pPr>
            <a:r>
              <a:t>Dual-Flavor Build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4434840"/>
            <a:ext cx="3200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000">
                <a:solidFill>
                  <a:srgbClr val="1E1B4B"/>
                </a:solidFill>
              </a:defRPr>
            </a:pPr>
            <a:r>
              <a:t>Gradle &amp; Android Tooling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Configured with dart-define (APP_FLAVOR=global / testing) producing independent standalone APKs: JAROOS-Global.apk (Production) and JAROOS-Testing.apk (Pre-loaded testbed).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System Architectural Design: 4-Tier Layered Framework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Modular Separation of Concerns from UI Presentation to Native 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1078992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Tier 1: Presentation Layer (UI / UX)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Main Navigation Shell, Kid Dashboard, Early Learning Screens (Alphabet, Numbers, Colors, Shapes), Media Screens (Animals, Fruits, Rhymes, Stories), Quiz Arena, Story Reader Dialog, and Parent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728655" cy="1078992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79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Tier 2: State &amp; Business Logic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1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LearningProvider (module registry, progress calculation, category filters), ParentProvider (PIN authentication, daily screen-time timer, module toggles), GamificationEngine (XP, Coins, Badges, Streaks).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728655" cy="107899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Tier 3: Service Abstraction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ModularTtsService (voice persona mapping, pitch/rate modulation, unicode Malayalam script auto-detection), SoundFxService (chimes, celebrations), StorageService (local persistence wrapper).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728655" cy="1078992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11D48"/>
                </a:solidFill>
              </a:defRPr>
            </a:pPr>
            <a:r>
              <a:t>Tier 4: Native Platform &amp; Hardware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1383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Android Operating System, Android Native TextToSpeech Engine (Pico/Google Speech Services), OpenSL ES Audio Hardware, Local Flash Storage (Shared Preferences XML / Cache).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Process Flow &amp; Data Flow Diagrams (DFD)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End-to-End User Interaction Workflows and State Transitions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Kid Interactive Learning &amp; Gamification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1E1B4B"/>
                </a:solidFill>
              </a:rPr>
              <a:t>Step 1: Module Selection -&gt; </a:t>
            </a:r>
            <a:r>
              <a:rPr sz="950">
                <a:solidFill>
                  <a:srgbClr val="475569"/>
                </a:solidFill>
              </a:rPr>
              <a:t>Child selects Alphabet, Numbers, Animals, or Bedtime Stories from the home dashboard or courses map.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E1B4B"/>
                </a:solidFill>
              </a:rPr>
              <a:t>Step 2: Interactive Engagement -&gt; </a:t>
            </a:r>
            <a:r>
              <a:rPr sz="950">
                <a:solidFill>
                  <a:srgbClr val="475569"/>
                </a:solidFill>
              </a:rPr>
              <a:t>Child taps a letter, object, or question card. Immediate visual bounce animation is triggered.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E1B4B"/>
                </a:solidFill>
              </a:rPr>
              <a:t>Step 3: Multi-Sensory Feedback -&gt; </a:t>
            </a:r>
            <a:r>
              <a:rPr sz="950">
                <a:solidFill>
                  <a:srgbClr val="475569"/>
                </a:solidFill>
              </a:rPr>
              <a:t>SoundFxService plays tactile chime; ModularTtsService speaks pronunciation with selected companion voice.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E1B4B"/>
                </a:solidFill>
              </a:rPr>
              <a:t>Step 4: Gamified Reward Calculation -&gt; </a:t>
            </a:r>
            <a:r>
              <a:rPr sz="950">
                <a:solidFill>
                  <a:srgbClr val="475569"/>
                </a:solidFill>
              </a:rPr>
              <a:t>LearningProvider awards +10 XP and +5 Coins. Daily streak counter verifies continuous play.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E1B4B"/>
                </a:solidFill>
              </a:rPr>
              <a:t>Step 5: Milestone &amp; Trophy Unlocking -&gt; </a:t>
            </a:r>
            <a:r>
              <a:rPr sz="950">
                <a:solidFill>
                  <a:srgbClr val="475569"/>
                </a:solidFill>
              </a:rPr>
              <a:t>If threshold reached, celebratory confetti pop-up activates; new achievement badge unlocked in Trophy Room.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Parent Gate Security &amp; Configuration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1E1B4B"/>
                </a:solidFill>
              </a:rPr>
              <a:t>Step 1: Parental Gate Request -&gt; </a:t>
            </a:r>
            <a:r>
              <a:rPr sz="950">
                <a:solidFill>
                  <a:srgbClr val="475569"/>
                </a:solidFill>
              </a:rPr>
              <a:t>Parent taps Parental Dashboard icon on navigation bar or profile screen.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E1B4B"/>
                </a:solidFill>
              </a:rPr>
              <a:t>Step 2: Math/PIN Challenge Dialog -&gt; </a:t>
            </a:r>
            <a:r>
              <a:rPr sz="950">
                <a:solidFill>
                  <a:srgbClr val="475569"/>
                </a:solidFill>
              </a:rPr>
              <a:t>ParentGateDialog prompts for 4-digit PIN (default '1234') or mathematical challenge preventing toddler bypass.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E1B4B"/>
                </a:solidFill>
              </a:rPr>
              <a:t>Step 3: Cryptographic Verification -&gt; </a:t>
            </a:r>
            <a:r>
              <a:rPr sz="950">
                <a:solidFill>
                  <a:srgbClr val="475569"/>
                </a:solidFill>
              </a:rPr>
              <a:t>If PIN matches stored hash, session unlocks; incorrect attempts show alert and lock input.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E1B4B"/>
                </a:solidFill>
              </a:rPr>
              <a:t>Step 4: Preference Customization -&gt; </a:t>
            </a:r>
            <a:r>
              <a:rPr sz="950">
                <a:solidFill>
                  <a:srgbClr val="475569"/>
                </a:solidFill>
              </a:rPr>
              <a:t>Parent toggles module availability (e.g. disable Rhymes during study), adjusts daily screen time limit (15-60 min), and selects companion voice.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E1B4B"/>
                </a:solidFill>
              </a:rPr>
              <a:t>Step 5: Persistent Storage &amp; Timer Sync -&gt; </a:t>
            </a:r>
            <a:r>
              <a:rPr sz="950">
                <a:solidFill>
                  <a:srgbClr val="475569"/>
                </a:solidFill>
              </a:rPr>
              <a:t>New settings write to local SharedPreferences; foreground screen-time monitor resets.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Sequence Workflow: Dynamic Malayalam Script Auto-Detection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Real-Time Unicode Parsing and Temporary TTS Speech Engine Re-Configuration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1B4B"/>
                </a:solidFill>
              </a:defRPr>
            </a:pPr>
            <a:r>
              <a:t>Voice Pipeline &amp; Text-to-Speech Engine Switching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DE68A"/>
                </a:solidFill>
              </a:rPr>
              <a:t>1. Input Ingestion: </a:t>
            </a:r>
            <a:r>
              <a:rPr sz="1050">
                <a:solidFill>
                  <a:srgbClr val="FFFFFF"/>
                </a:solidFill>
              </a:rPr>
              <a:t>Text payload received by ModularTtsService.speak(text) from Story Reader or learning card.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DE68A"/>
                </a:solidFill>
              </a:rPr>
              <a:t>2. Script Analysis: </a:t>
            </a:r>
            <a:r>
              <a:rPr sz="1050">
                <a:solidFill>
                  <a:srgbClr val="FFFFFF"/>
                </a:solidFill>
              </a:rPr>
              <a:t>Text analyzed against Malayalam Unicode block regex: RegExp(r'[ഀ-ൿ]').hasMatch(cleanText).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DE68A"/>
                </a:solidFill>
              </a:rPr>
              <a:t>3. Branch A - Malayalam Detected: </a:t>
            </a:r>
            <a:r>
              <a:rPr sz="1050">
                <a:solidFill>
                  <a:srgbClr val="FFFFFF"/>
                </a:solidFill>
              </a:rPr>
              <a:t>Speech engine temporarily sets language to 'ml-IN', sets pitch to 1.24, and applies Meenu/Unni storytelling persona.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DE68A"/>
                </a:solidFill>
              </a:rPr>
              <a:t>4. Branch B - English Detected: </a:t>
            </a:r>
            <a:r>
              <a:rPr sz="1050">
                <a:solidFill>
                  <a:srgbClr val="FFFFFF"/>
                </a:solidFill>
              </a:rPr>
              <a:t>Speech engine applies the user's active companion persona (e.g. Sparky pitch=1.34, Dora pitch=1.33, Robo-Bot pitch=0.92).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DE68A"/>
                </a:solidFill>
              </a:rPr>
              <a:t>5. Audio Synthesis: </a:t>
            </a:r>
            <a:r>
              <a:rPr sz="1050">
                <a:solidFill>
                  <a:srgbClr val="FFFFFF"/>
                </a:solidFill>
              </a:rPr>
              <a:t>Native TTS engine synthesizes audio stream with phonetic cadence, commas converted to natural breath pauses.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DE68A"/>
                </a:solidFill>
              </a:rPr>
              <a:t>6. State Restoration: </a:t>
            </a:r>
            <a:r>
              <a:rPr sz="1050">
                <a:solidFill>
                  <a:srgbClr val="FFFFFF"/>
                </a:solidFill>
              </a:rPr>
              <a:t>Upon completion of utterance, TTS service restores default active persona pitch and rate settings seamlessly.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0"/>
            <a:ext cx="10332720" cy="15544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61772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4D399"/>
                </a:solidFill>
                <a:latin typeface="Consolas"/>
              </a:defRPr>
            </a:pPr>
            <a:r>
              <a:t>// In ModularTtsService.speak(String text):</a:t>
            </a:r>
            <a:br/>
            <a:r>
              <a:t>final isMalayalam = RegExp(r'[\u0D00-\u0D7F]').hasMatch(clean);</a:t>
            </a:r>
            <a:br/>
            <a:r>
              <a:t>if (isMalayalam) {</a:t>
            </a:r>
            <a:br/>
            <a:r>
              <a:t>    await _flutterTts.setLanguage('ml-IN');</a:t>
            </a:r>
            <a:br/>
            <a:r>
              <a:t>    await _flutterTts.setPitch(1.24);  // Native storytelling pitch</a:t>
            </a:r>
            <a:br/>
            <a:r>
              <a:t>    await _flutterTts.setSpeechRate(0.42); // Gentle storytelling cadence</a:t>
            </a:r>
            <a:br/>
            <a:r>
              <a:t>} else { await _applyPersonaSettings(_activePersona); }</a:t>
            </a:r>
            <a:br/>
            <a:r>
              <a:t>await _flutterTts.speak(clean);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Dataset &amp; Database Entity Schema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Lightweight Embedded NoSQL &amp; In-Memory Entity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LearningModule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• id: String (e.g. 'alphabets', 'numbers')</a:t>
            </a:r>
            <a:br/>
            <a:r>
              <a:t>• title: String ('Alphabet Adventure')</a:t>
            </a:r>
            <a:br/>
            <a:r>
              <a:t>• category: String ('Early Learning')</a:t>
            </a:r>
            <a:br/>
            <a:r>
              <a:t>• progress: double (0.0 to 1.0)</a:t>
            </a:r>
            <a:br/>
            <a:r>
              <a:t>• isCompleted: bool</a:t>
            </a:r>
            <a:br/>
            <a:r>
              <a:t>• isEnabled: bool (parental control toggle)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VoicePersona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031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• id: String ('sparky_kid', 'unni_kid', etc.)</a:t>
            </a:r>
            <a:br/>
            <a:r>
              <a:t>• name: String ('Sparky', 'Unni (ഉണ്ണി)')</a:t>
            </a:r>
            <a:br/>
            <a:r>
              <a:t>• avatarEmoji: String ('⭐', '🧒', '🌸')</a:t>
            </a:r>
            <a:br/>
            <a:r>
              <a:t>• pitch: double (0.92 - 1.34)</a:t>
            </a:r>
            <a:br/>
            <a:r>
              <a:t>• speechRate: double (0.42 - 0.49)</a:t>
            </a:r>
            <a:br/>
            <a:r>
              <a:t>• languageCode: String ('en-US', 'ml-IN')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StoryItem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• title: String ('ആമയും മുയലും')</a:t>
            </a:r>
            <a:br/>
            <a:r>
              <a:t>• emoji: String ('🐢', '🦁', '🦅')</a:t>
            </a:r>
            <a:br/>
            <a:r>
              <a:t>• duration: String ('3 min read')</a:t>
            </a:r>
            <a:br/>
            <a:r>
              <a:t>• moral: String ('സ്ഥിരോത്സാഹവും ക്ഷമയും...')</a:t>
            </a:r>
            <a:br/>
            <a:r>
              <a:t>• summary: String (child overview)</a:t>
            </a:r>
            <a:br/>
            <a:r>
              <a:t>• paragraphs: List&lt;String&gt;</a:t>
            </a:r>
            <a:br/>
            <a:r>
              <a:t>• language: String ('en' | 'ml')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2336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6052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11D48"/>
                </a:solidFill>
              </a:defRPr>
            </a:pPr>
            <a:r>
              <a:t>ParentSettings &amp; Child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5262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• dailyTimeLimitMinutes: int (15, 30, 45, 60)</a:t>
            </a:r>
            <a:br/>
            <a:r>
              <a:t>• todayScreenTimeMinutes: int</a:t>
            </a:r>
            <a:br/>
            <a:r>
              <a:t>• parentPin: String (hashed 4-digit code)</a:t>
            </a:r>
            <a:br/>
            <a:r>
              <a:t>• selectedVoiceId: String ('sparky_kid')</a:t>
            </a:r>
            <a:br/>
            <a:r>
              <a:t>• totalXp: int, coins: int, streak: int</a:t>
            </a:r>
            <a:br/>
            <a:r>
              <a:t>• unlockedBadges: List&lt;String&gt;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Module Description: Core Early Learning &amp; Media Suite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Pedagogical Structure of Foundational Interactive Activities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Alphabet Adventure (A-Z)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Interactive phonics grid with 26 letters. Tapping a letter triggers large letter pop-up, word association (A for Apple), vibrant cartoon icon, and high-pitch pronunciation.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Number Kingdom (1-20)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Tactile number flashcards. Displays numeral, number word, and corresponding counting items (e.g. 5 Stars) with real-time audio counting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Colors &amp; Shapes Studio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1031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Visual discovery of primary &amp; secondary colors with mixing rules (Red + Yellow = Orange). Geometric shape explorer displays side counts and real-world object analogs.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11D48"/>
                </a:solidFill>
              </a:defRPr>
            </a:pPr>
            <a:r>
              <a:t>Wildlife Safari &amp; Fruits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8055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Animal kingdom categorizes domestic, wild, and aquatic fauna with authentic animal vocalizations. Fruits &amp; vegetables section highlights health vitamins and textures.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77639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1B4B"/>
                </a:solidFill>
              </a:defRPr>
            </a:pPr>
            <a:r>
              <a:t>Musical Fun Rhymes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8055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Full musical sing-along player with lyrics highlighting ('Twinkle Twinkle', 'Wheels on the Bus', 'Old MacDonald', 'Baa Baa Black Sheep').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77639"/>
            <a:ext cx="347472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75569"/>
                </a:solidFill>
              </a:defRPr>
            </a:pPr>
            <a:r>
              <a:t>Quiz Arena &amp;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448055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Gamified retrieval practice arena. Multiple-choice challenges with immediate audio affirmation, star rating system, and XP coin rewards.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Module Description: Regional Stories &amp; Parental Governance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Preserving Indigenous Folklore and Ensuring Child Digital Well-Being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Malayalam &amp; English Bedtime 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Curated Dual-Language Catalog: </a:t>
            </a:r>
            <a:r>
              <a:rPr sz="1000">
                <a:solidFill>
                  <a:srgbClr val="475569"/>
                </a:solidFill>
              </a:rPr>
              <a:t>Features 12 complete bedtime fables (6 classic English tales + 6 authentic Malayalam moral folklore stories).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Malayalam Folklore Classics: </a:t>
            </a:r>
            <a:r>
              <a:rPr sz="1000">
                <a:solidFill>
                  <a:srgbClr val="475569"/>
                </a:solidFill>
              </a:rPr>
              <a:t>ആമയും മുയലും (Tortoise &amp; Hare), ബുദ്ധിമാനായ കാക്ക (Clever Crow), സിംഹവും കൊച്ചു എലിയും (Lion &amp; Mouse), ആനയും തയ്യൽക്കാരനും (Elephant &amp; Tailor), സ്വർണ്ണമുട്ടയിടുന്ന താറാവ് (Golden Goose), കുറുക്കനും കൊക്കും (Fox &amp; Stork).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Interactive Language Filter Bar: </a:t>
            </a:r>
            <a:r>
              <a:rPr sz="1000">
                <a:solidFill>
                  <a:srgbClr val="475569"/>
                </a:solidFill>
              </a:rPr>
              <a:t>Allows 1-tap switching: All Stories (12), 🌴 മലയാളം കഥകൾ (6), and 🇬🇧 English Stories (6).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Read to Me (🔊) Voice Narration: </a:t>
            </a:r>
            <a:r>
              <a:rPr sz="1000">
                <a:solidFill>
                  <a:srgbClr val="475569"/>
                </a:solidFill>
              </a:rPr>
              <a:t>Reads story paragraphs sequentially with gentle pacing and concludes with the moral lesson (ഗുണപാഠം).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Clean English UI Preserved: </a:t>
            </a:r>
            <a:r>
              <a:rPr sz="1000">
                <a:solidFill>
                  <a:srgbClr val="475569"/>
                </a:solidFill>
              </a:rPr>
              <a:t>Story reader chrome and app navigation remain in English while story content speaks authentic Malayalam.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Parental Shield &amp; Audio 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PIN-Secured Parent Gate: </a:t>
            </a:r>
            <a:r>
              <a:rPr sz="1000">
                <a:solidFill>
                  <a:srgbClr val="475569"/>
                </a:solidFill>
              </a:rPr>
              <a:t>Restricts access to parental settings with 4-digit PIN challenge to prevent toddler accidental reconfiguration.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Voice Companion Selection: </a:t>
            </a:r>
            <a:r>
              <a:rPr sz="1000">
                <a:solidFill>
                  <a:srgbClr val="475569"/>
                </a:solidFill>
              </a:rPr>
              <a:t>Choose between 6 English companions (Sparky, Dora Explorer, Lily, Leo, Emma, Robo-Bot) and 3 Malayalam voices (Unni, Meenu, Appu).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Live Audio Preview (🔊): </a:t>
            </a:r>
            <a:r>
              <a:rPr sz="1000">
                <a:solidFill>
                  <a:srgbClr val="475569"/>
                </a:solidFill>
              </a:rPr>
              <a:t>Tap preview button to listen to each companion's catchphrase before selecting.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Curriculum Subject Toggling: </a:t>
            </a:r>
            <a:r>
              <a:rPr sz="1000">
                <a:solidFill>
                  <a:srgbClr val="475569"/>
                </a:solidFill>
              </a:rPr>
              <a:t>Enable/disable individual subjects (e.g. deactivate games during study hours).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Daily Screen-Time Limiter: </a:t>
            </a:r>
            <a:r>
              <a:rPr sz="1000">
                <a:solidFill>
                  <a:srgbClr val="475569"/>
                </a:solidFill>
              </a:rPr>
              <a:t>Set daily limits (15, 30, 45, 60 minutes). App gently alerts the child when screen time is exhausted and pauses play.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Proposed Algorithms: Speech Adaptation &amp; Gamified Mastery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Mathematical and Algorithmic Logic Underpinning JAROOS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1B4B"/>
                </a:solidFill>
              </a:defRPr>
            </a:pPr>
            <a:r>
              <a:t>Algorithm 1: Script-Aware Voice Auto-Detection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366F1"/>
                </a:solidFill>
                <a:latin typeface="Consolas"/>
              </a:defRPr>
            </a:pPr>
            <a:r>
              <a:t>Input: Text string T, Active Persona P_active</a:t>
            </a:r>
            <a:br/>
            <a:r>
              <a:t>Output: Synthesized Speech Audio</a:t>
            </a:r>
            <a:br/>
            <a:br/>
            <a:r>
              <a:t>1. T_clean &lt;- Sanitize(T)</a:t>
            </a:r>
            <a:br/>
            <a:r>
              <a:t>2. isMalayalam &lt;- Match(T_clean, [\u0D00-\u0D7F])</a:t>
            </a:r>
            <a:br/>
            <a:r>
              <a:t>3. if isMalayalam == true then:</a:t>
            </a:r>
            <a:br/>
            <a:r>
              <a:t>      SetLanguage('ml-IN')</a:t>
            </a:r>
            <a:br/>
            <a:r>
              <a:t>      SetPitch(1.24) // Meenu Storyteller pitch</a:t>
            </a:r>
            <a:br/>
            <a:r>
              <a:t>      SetSpeechRate(0.42) // Story cadence</a:t>
            </a:r>
            <a:br/>
            <a:r>
              <a:t>   else:</a:t>
            </a:r>
            <a:br/>
            <a:r>
              <a:t>      SetLanguage(P_active.langCode)</a:t>
            </a:r>
            <a:br/>
            <a:r>
              <a:t>      SetPitch(P_active.pitch)</a:t>
            </a:r>
            <a:br/>
            <a:r>
              <a:t>      SetSpeechRate(P_active.speechRate)</a:t>
            </a:r>
            <a:br/>
            <a:r>
              <a:t>   end if</a:t>
            </a:r>
            <a:br/>
            <a:r>
              <a:t>4. SynthesizeAndSpeak(T_clean)</a:t>
            </a:r>
            <a:br/>
            <a:r>
              <a:t>5. RestorePersona(P_active)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Algorithm 2: Gamified Mastery &amp; Streak 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D9488"/>
                </a:solidFill>
                <a:latin typeface="Consolas"/>
              </a:defRPr>
            </a:pPr>
            <a:r>
              <a:t>Input: ActivityCompletionEvent E, ChildState S</a:t>
            </a:r>
            <a:br/>
            <a:r>
              <a:t>Output: Updated Level L, XP, Coins, Badges</a:t>
            </a:r>
            <a:br/>
            <a:br/>
            <a:r>
              <a:t>1. BaseXP &lt;- 10, BaseCoins &lt;- 5</a:t>
            </a:r>
            <a:br/>
            <a:r>
              <a:t>2. StreakMultiplier &lt;- min(1.0 + (S.streak * 0.1), 2.0)</a:t>
            </a:r>
            <a:br/>
            <a:r>
              <a:t>3. DeltaXP &lt;- round(BaseXP * StreakMultiplier)</a:t>
            </a:r>
            <a:br/>
            <a:r>
              <a:t>4. S.xp &lt;- S.xp + DeltaXP</a:t>
            </a:r>
            <a:br/>
            <a:r>
              <a:t>5. S.coins &lt;- S.coins + BaseCoins</a:t>
            </a:r>
            <a:br/>
            <a:r>
              <a:t>6. RequiredXP &lt;- S.level * 100</a:t>
            </a:r>
            <a:br/>
            <a:r>
              <a:t>7. if S.xp &gt;= RequiredXP then:</a:t>
            </a:r>
            <a:br/>
            <a:r>
              <a:t>      S.level &lt;- S.level + 1</a:t>
            </a:r>
            <a:br/>
            <a:r>
              <a:t>      S.xp &lt;- S.xp - RequiredXP</a:t>
            </a:r>
            <a:br/>
            <a:r>
              <a:t>      TriggerLevelUpCelebration(S.level)</a:t>
            </a:r>
            <a:br/>
            <a:r>
              <a:t>   end if</a:t>
            </a:r>
            <a:br/>
            <a:r>
              <a:t>8. CheckBadgeCriteria(S) -&gt; UnlockBadge()</a:t>
            </a:r>
            <a:br/>
            <a:r>
              <a:t>9. SaveStateToPreferences(S)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Results, Performance Metrics &amp; Quality Assurance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Automated Test Suite Verification, APK Footprint &amp; Performance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Automated Test Suite: 100%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E1B4B"/>
                </a:solidFill>
              </a:defRPr>
            </a:pPr>
            <a:r>
              <a:t>55/55 Tests Passing Cleanly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Full automated test coverage across navigation, splash flow, authentication, learning modules, bedtime stories, Malayalam filter, TTS switching, and parent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Optimized APK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031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E1B4B"/>
                </a:solidFill>
              </a:defRPr>
            </a:pPr>
            <a:r>
              <a:t>54.89 MB Standalone Package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Contains all vectors, high-res audio assets, Malayalam fonts, and compiled engine. Complete zero-dependency installation running 100% offline.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59E0B"/>
                </a:solidFill>
              </a:defRPr>
            </a:pPr>
            <a:r>
              <a:t>Fluid 60-120 FPS Rendering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E1B4B"/>
                </a:solidFill>
              </a:defRPr>
            </a:pPr>
            <a:r>
              <a:t>Zero Dropped Frames &amp; Janks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Achieved through Flutter Skia/Impeller hardware acceleration and scoped widget rebuilding using ChangeNotifier architecture.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2336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6052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11D48"/>
                </a:solidFill>
              </a:defRPr>
            </a:pPr>
            <a:r>
              <a:t>Sub-50ms Speech 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5262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E1B4B"/>
                </a:solidFill>
              </a:defRPr>
            </a:pPr>
            <a:r>
              <a:t>Instant Audio Feedback Latency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TTS synthesis and sound effect triggers respond within 30-50ms of user tap, maintaining immersion and tactile cause-and-effect clarity.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User Interface Showcase: Child-Centric Visual Design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Aesthetic Architecture, Emotional Typography, and Accessibility Principles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Kid-Friendly Typography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Leverages Fredoka and Nunito fonts from Google Fonts for soft, rounded letterforms that maximize legibility for early readers and prevent visual fatigue.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97479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Cognitive Visual Affordance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Bright, distinct color themes per subject (Green for Alphabet, Orange for Safari, Blue for Stories) allowing pre-literate toddlers to navigate independently by icon color.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Multi-Lingual Stories Reader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Full-bleed cards with emoji badges, reading duration tags, and language filter chips ('All Stories', '🌴 മലയാളം കഥകൾ', '🇬🇧 English Stories').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Parental Dashboard Shield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Professional, high-contrast settings portal grouping Malayalam voice models and English companion voices with dedicated live audio preview buttons.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40680"/>
            <a:ext cx="1072865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Responsive Layouts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Optimized across standard Android smartphones (1080x2400) and tablets with dynamic grid wrapping and zero layout overflows.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Conclusion &amp; Future Enhancements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Project Summary and Strategic Technology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D9488"/>
                </a:solidFill>
              </a:defRPr>
            </a:pPr>
            <a:r>
              <a:t>Project Summary &amp;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1E1B4B"/>
                </a:solidFill>
              </a:rPr>
              <a:t>Holistic Pedagogical Platform: </a:t>
            </a:r>
            <a:r>
              <a:rPr sz="1050">
                <a:solidFill>
                  <a:srgbClr val="475569"/>
                </a:solidFill>
              </a:rPr>
              <a:t>JAROOS proves that modern early childhood apps can be joyful, educational, and culturally inclusive without resorting to commercial ads.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1E1B4B"/>
                </a:solidFill>
              </a:rPr>
              <a:t>Breakthrough Voice Companionship: </a:t>
            </a:r>
            <a:r>
              <a:rPr sz="1050">
                <a:solidFill>
                  <a:srgbClr val="475569"/>
                </a:solidFill>
              </a:rPr>
              <a:t>Moving beyond robotic TTS to 9 expressive child personas transforms speech synthesis from a utility into an engaging learning companion.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1E1B4B"/>
                </a:solidFill>
              </a:rPr>
              <a:t>Preserving Cultural Heritage: </a:t>
            </a:r>
            <a:r>
              <a:rPr sz="1050">
                <a:solidFill>
                  <a:srgbClr val="475569"/>
                </a:solidFill>
              </a:rPr>
              <a:t>Seamless integration of authentic Malayalam bedtime tales provides children with mother-tongue moral enrichment alongside English mastery.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1E1B4B"/>
                </a:solidFill>
              </a:rPr>
              <a:t>Parental Peace of Mind: </a:t>
            </a:r>
            <a:r>
              <a:rPr sz="1050">
                <a:solidFill>
                  <a:srgbClr val="475569"/>
                </a:solidFill>
              </a:rPr>
              <a:t>Robust Parent Gate, screen-time controls, and 100% offline isolation protect child well-being and privacy.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F46E5"/>
                </a:solidFill>
              </a:defRPr>
            </a:pPr>
            <a:r>
              <a:t>Future Technical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1. Speech Recognition (STT) for Phonics: </a:t>
            </a:r>
            <a:r>
              <a:rPr sz="1000">
                <a:solidFill>
                  <a:srgbClr val="475569"/>
                </a:solidFill>
              </a:rPr>
              <a:t>Implement on-device Speech-To-Text to evaluate child pronunciation during 'Repeat After Me' phonics exercises.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2. Adaptive AI Learning Difficulty: </a:t>
            </a:r>
            <a:r>
              <a:rPr sz="1000">
                <a:solidFill>
                  <a:srgbClr val="475569"/>
                </a:solidFill>
              </a:rPr>
              <a:t>Dynamic progression algorithms that adjust quiz difficulty and recommend modules based on individualized error rates.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3. Expansion of Regional Languages: </a:t>
            </a:r>
            <a:r>
              <a:rPr sz="1000">
                <a:solidFill>
                  <a:srgbClr val="475569"/>
                </a:solidFill>
              </a:rPr>
              <a:t>Extend bedtime storytelling and voice personas to Tamil (தமிழ்), Telugu (తెలుగు), Kannada (ಕನ್ನಡ), and Hindi (हिन्दी).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4. Augmented Reality (AR) Animal Safari: </a:t>
            </a:r>
            <a:r>
              <a:rPr sz="1000">
                <a:solidFill>
                  <a:srgbClr val="475569"/>
                </a:solidFill>
              </a:rPr>
              <a:t>Introduce AR Core models allowing children to project 3D animals and interactive geometric shapes into their physical room.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1E1B4B"/>
                </a:solidFill>
              </a:rPr>
              <a:t>5. Multi-Child Device Profiles: </a:t>
            </a:r>
            <a:r>
              <a:rPr sz="1000">
                <a:solidFill>
                  <a:srgbClr val="475569"/>
                </a:solidFill>
              </a:rPr>
              <a:t>Support isolated progress tracking, XP, and coin wallets for multiple siblings on a single shared tablet.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75488"/>
            <a:ext cx="201168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438912"/>
            <a:ext cx="8229600" cy="86868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defRPr b="1" sz="2000">
                <a:solidFill>
                  <a:srgbClr val="1E1B4B"/>
                </a:solidFill>
              </a:defRPr>
            </a:pPr>
            <a:r>
              <a:t>Academic References &amp; Technical Documentation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Scholarly Literature, Standards, and Framework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E1B4B"/>
                </a:solidFill>
              </a:defRPr>
            </a:pPr>
            <a:r>
              <a:t>Scholarly Citations &amp; Technical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[1] Papert, S., &amp; Harel, I. (1991). Constructionism. Ablex Publishing Corporation. (Theoretical foundation for exploratory child-computer learning).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[2] Resnick, M. (2007). All I Really Need to Know (Totally New Ways of Learning): Kindergarten Is Expanding into the Rest of Life. ACM Creativity &amp; Cognition, 2007.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[3] UNESCO. (2022). Born to Learn: Spotlight on Primary Education in Africa and South Asia. Global Education Monitoring Report. (Value of mother-tongue early literacy).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[4] Kuhl, P. K. (2018). Early Language Learning and Literacy: Neuroscience and Child Development Insights. Mind, Brain, and Education Journal, 12(3), 145-156.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[5] Deterding, S., Dixon, D., Khaled, R., &amp; Nacke, L. (2011). From Game Design Elements to Gamefulness: Defining Gamification. Proceedings of the 15th MindTrek Conference, ACM, 9-15.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[6] Google Flutter Documentation. (2024). Flutter Architectural Overview &amp; High-Performance Dart Compilation. Official Flutter Dev Portal. https://docs.flutter.dev/resources/architectural-overview.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[7] Android Open Source Project (AOSP). (2024). Android TextToSpeech API Specification &amp; Multi-Language Synthesis. https://developer.android.com/reference/android/speech/tts/TextToSpeech.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[8] Unicode Consortium. (2024). Malayalam Unicode Block Chart (Range 0D00-0D7F). The Unicode Standard, Version 15.1. https://www.unicode.org/charts/PDF/U0D00.pdf.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